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
  <Override PartName="/ppt/media/image12.svg" ContentType="image/svg"/>
  <Override PartName="/ppt/media/image14.svg" ContentType="image/svg"/>
  <Override PartName="/ppt/media/image16.svg" ContentType="image/svg"/>
  <Override PartName="/ppt/media/image18.svg" ContentType="image/svg"/>
  <Override PartName="/ppt/media/image2.svg" ContentType="image/svg"/>
  <Override PartName="/ppt/media/image20.svg" ContentType="image/svg"/>
  <Override PartName="/ppt/media/image5.svg" ContentType="image/svg"/>
  <Override PartName="/ppt/media/image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6.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8" r:id="rId7"/>
    <p:sldMasterId id="2147483662" r:id="rId9"/>
    <p:sldMasterId id="2147483664" r:id="rId10"/>
    <p:sldMasterId id="2147483666" r:id="rId11"/>
  </p:sldMasterIdLst>
  <p:sldIdLst>
    <p:sldId id="256" r:id="rId12"/>
    <p:sldId id="261" r:id="rId17"/>
    <p:sldId id="262" r:id="rId18"/>
    <p:sldId id="263" r:id="rId19"/>
    <p:sldId id="265" r:id="rId21"/>
    <p:sldId id="258" r:id="rId14"/>
    <p:sldId id="259" r:id="rId15"/>
    <p:sldId id="260" r:id="rId16"/>
    <p:sldId id="266" r:id="rId2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7" Type="http://schemas.openxmlformats.org/officeDocument/2006/relationships/slideMaster" Target="slideMasters/slideMaster6.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notesMaster" Target="notesMasters/notesMaster1.xml"/><Relationship Id="rId21" Type="http://schemas.openxmlformats.org/officeDocument/2006/relationships/slide" Target="slides/slide10.xml"/><Relationship Id="rId22" Type="http://schemas.openxmlformats.org/officeDocument/2006/relationships/slide" Target="slides/slide11.xml"/><Relationship Id="rId2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Our WP5 contribution focuses on providing the outdoor UAV platform and demonstrating its flight capability. I will show the platform evolution, the completed design and testing work, and our collaboration with USAL. ACCELIGENCE provides the drone; the sensor results and their analysis belong with USAL. Detailed pilot scenarios are covered in WP8.</a:t>
            </a:r>
          </a:p>
          <a:p/>
          <a:p>
            <a:r>
              <a:t>SOURCE / CONFIRMATION</a:t>
            </a:r>
          </a:p>
          <a:p>
            <a:r>
              <a:t>Latest user instruction defines the ACCELIGENCE/USAL roles. Grant Agreement, Annex 1, T5.1, PDF pages 71–72: Airborne tailings assessment – Satellite-based augmentation systems, M19–M30. Presenter details: September update. Meeting branding/date: supplied 7th GA template.</a:t>
            </a:r>
          </a:p>
          <a:p/>
          <a:p>
            <a:r>
              <a:t>PRESENTER UPDATE</a:t>
            </a:r>
          </a:p>
          <a:p>
            <a:r>
              <a:t>The earlier progress presentations call this task Robotics for mining automation and show M06–M18. This deck uses the WP5/T5.1 identifier and a precise outdoor-platform subtitle, and does not repeat the conflicting task name, duration or deliverable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outdoor platform has moved through three clear stages. In June, the structure and systems were complete, with laboratory checks and field testing underway. By September, the configuration was finalised and multiple field campaigns, including flights with the multispectral camera, had been conducted. The final Björkdal pilot has now included the outdoor configuration. These are platform and deployment achievements; USAL presents the sensor-derived findings.</a:t>
            </a:r>
          </a:p>
          <a:p/>
          <a:p>
            <a:r>
              <a:t>SOURCE / CONFIRMATION</a:t>
            </a:r>
          </a:p>
          <a:p>
            <a:r>
              <a:t>June WP5 GA deck: slides 2–4. September WP5 update: slide 4. User WP8 update confirms outdoor flights with the multispectral camera at Björkdal.</a:t>
            </a:r>
          </a:p>
          <a:p/>
          <a:p>
            <a:r>
              <a:t>PRESENTER UPDATE</a:t>
            </a:r>
          </a:p>
          <a:p>
            <a:r>
              <a:t>This completes the evidenced outdoor platform work. Sensor calibration, scientific interpretation and formal acceptance of related results remain separate from the platform achievements reported here. The task lead confirmed the presentation scope after reviewing the earlier remaining-activity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Our contribution is the drone and its readiness for the joint missions. The mechanical design and manufacture are complete, as is assembly of propulsion, electrical, avionics, communication and flight-control systems. The platform supports payload integration, with multispectral-equipped flights already performed. The image shows the actual assembled outdoor configuration from the previous GA.</a:t>
            </a:r>
          </a:p>
          <a:p/>
          <a:p>
            <a:r>
              <a:t>SOURCE / CONFIRMATION</a:t>
            </a:r>
          </a:p>
          <a:p>
            <a:r>
              <a:t>June WP5 GA deck, slides 2–4: design, manufacture, systems integration and outdoor platform readiness. September update, slide 4: finalised configuration and multispectral-camera flights.</a:t>
            </a:r>
          </a:p>
          <a:p/>
          <a:p>
            <a:r>
              <a:t>PRESENTER UPDATE</a:t>
            </a:r>
          </a:p>
          <a:p>
            <a:r>
              <a:t>Do not present the earlier assembly photograph as a final Björkdal pilot photograph. Avoid quoting endurance, maximum payload, rotor count or power configuration as measured or accepted specifications without the confirmed as-built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test programme covered the vehicle itself: laboratory thrust, current and thermal behaviour checks, outdoor flight campaigns, and tuning of flight control and propulsion response. The 2.5 kg dummy payload simulated the mission load. This is evidence of flight behaviour under load; it does not establish scientific sensor performance.</a:t>
            </a:r>
          </a:p>
          <a:p/>
          <a:p>
            <a:r>
              <a:t>SOURCE / CONFIRMATION</a:t>
            </a:r>
          </a:p>
          <a:p>
            <a:r>
              <a:t>June WP5 GA deck, slides 2–3, documents laboratory tests, controller/propulsion tuning and 2.5 kg dummy-payload flights. All three images are from the previous GA deck.</a:t>
            </a:r>
          </a:p>
          <a:p/>
          <a:p>
            <a:r>
              <a:t>PRESENTER UPDATE</a:t>
            </a:r>
          </a:p>
          <a:p>
            <a:r>
              <a:t>No quantitative stability, endurance, survey accuracy or sensor-validation result has been invented. Photographs represent earlier laboratory/field work, not the October Björkdal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role distinction is central to our WP5 presentation. ACCELIGENCE provides the drone, its outdoor configuration and the tested flight platform. We collaborate with USAL on the sensing requirements and the joint flight activities. The sensor data, analysis and interpretation of results are reported by USAL. For Björkdal, the task-level update is that outdoor flights with the multispectral camera have been completed; WP8 covers the pilot scenarios in detail.</a:t>
            </a:r>
          </a:p>
          <a:p/>
          <a:p>
            <a:r>
              <a:t>SOURCE / CONFIRMATION</a:t>
            </a:r>
          </a:p>
          <a:p>
            <a:r>
              <a:t>Latest user instruction explicitly assigns drone provision to ACCELIGENCE and the results to collaborating partner USAL. Previous GA slide 5 documents integration coordination with USAL; user WP8 update confirms the Björkdal outdoor/multispectral flights.</a:t>
            </a:r>
          </a:p>
          <a:p/>
          <a:p>
            <a:r>
              <a:t>PRESENTER UPDATE</a:t>
            </a:r>
          </a:p>
          <a:p>
            <a:r>
              <a:t>This slide describes responsibilities, not a signed-off data transfer. Do not claim that all data have already been delivered, analysed or accepted. Add detailed flight findings after the team debrief and keep sensor conclusions attributed to USAL.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Our recorded risks concern the platform and its integration into the mission. We examined loading effects through dummy-payload tests and monitored propulsion current and thermal behaviour in the laboratory. We addressed integration readiness through coordination with USAL and progressive flight campaigns. Outdoor field testing and controller tuning supported deployment. Detailed issues encountered at Björkdal and their mitigations will be added after the flight team provides feedback.</a:t>
            </a:r>
          </a:p>
          <a:p/>
          <a:p>
            <a:r>
              <a:t>SOURCE / CONFIRMATION</a:t>
            </a:r>
          </a:p>
          <a:p>
            <a:r>
              <a:t>June WP5 GA slides 2–3: thrust, current, thermal behaviour, field tuning and dummy-payload testing. June progress update slide 7: battery/endurance/modularity constraints. September update slide 4: multispectral-equipped flights. User confirms the completed Björkdal outdoor campaign.</a:t>
            </a:r>
          </a:p>
          <a:p/>
          <a:p>
            <a:r>
              <a:t>PRESENTER UPDATE</a:t>
            </a:r>
          </a:p>
          <a:p>
            <a:r>
              <a:t>These are platform risks, not the official project risk register. Formal risk numbers, likelihood, residual levels, severe-weather ratings and numerical test conclusions are not available. Dummy-payload flights validate platform loading behaviour; sensor-derived findings remain with USAL.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outdoor UAV platform is complete. The next steps are coordination and reporting: align the platform evidence with USAL, gather pilot feedback, and prepare the configuration and testing record for the Final Review. Sensor results and their interpretation remain with USAL.</a:t>
            </a:r>
          </a:p>
          <a:p/>
          <a:p>
            <a:r>
              <a:t>SOURCE / CONFIRMATION</a:t>
            </a:r>
          </a:p>
          <a:p>
            <a:r>
              <a:t>Latest user clarification sets the scope as completed outdoor UAV provision and the confirmed multispectral pilot flights. The supplied template requests a before-Christmas next-steps slide; this is a reporting window, not a newly invented contractual deadline.</a:t>
            </a:r>
          </a:p>
          <a:p/>
          <a:p>
            <a:r>
              <a:t>PRESENTER UPDATE</a:t>
            </a:r>
          </a:p>
          <a:p>
            <a:r>
              <a:t>Add actual operational lessons once the flight team has debriefed. This slide proposes no additional platform development or flight campaign. Keep the scientific result claims attributed to USAL.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review narrative should explain the completed outdoor UAV and the evidence showing that it supports the sensing missions. Our platform contribution is backed by assembly, integration, laboratory checks, field campaigns and the final pilot deployment. USAL provides the sensor results and analysis. We should align our evidence and terminology while keeping the detailed pilot scenarios in WP8.</a:t>
            </a:r>
          </a:p>
          <a:p/>
          <a:p>
            <a:r>
              <a:t>SOURCE / CONFIRMATION</a:t>
            </a:r>
          </a:p>
          <a:p>
            <a:r>
              <a:t>User-defined partner responsibilities and presentation scope. Grant Agreement T5.1, PDF pages 71–72, includes vehicle selection and integration for airborne assessment. Prior progress decks and user updates document the platform milestones.</a:t>
            </a:r>
          </a:p>
          <a:p/>
          <a:p>
            <a:r>
              <a:t>PRESENTER UPDATE</a:t>
            </a:r>
          </a:p>
          <a:p>
            <a:r>
              <a:t>The evidence package is proposed for reporting; no formal deliverable acceptance, calibrated geophysical performance or completed USAL analysis is asserted.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outdoor UAV has evolved from assembly and laboratory testing to a finalised, field-tested configuration and deployment at Björkdal. ACCELIGENCE provides the drone; USAL reports the sensor results. We will consolidate pilot feedback and the platform evidence for the Final Review.</a:t>
            </a:r>
          </a:p>
          <a:p/>
          <a:p>
            <a:r>
              <a:t>SOURCE / CONFIRMATION</a:t>
            </a:r>
          </a:p>
          <a:p>
            <a:r>
              <a:t>Completed platform work is documented in the June/September decks. Björkdal outdoor flights and the ACCELIGENCE/USAL role distinction are confirmed by the user. Official branding and contact links retained from the supplied template.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Vertical Title and Tex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CA3A2A8-A3CB-492B-AF4A-6C0371CDF6B6}" type="slidenum">
              <a:t>&lt;#&gt;</a:t>
            </a:fld>
          </a:p>
        </p:txBody>
      </p:sp>
      <p:sp>
        <p:nvSpPr>
          <p:cNvPr id="4" name="PlaceHolder 3"/>
          <p:cNvSpPr>
            <a:spLocks noGrp="1"/>
          </p:cNvSpPr>
          <p:nvPr>
            <p:ph type="dt" idx="3"/>
          </p:nvPr>
        </p:nvSpPr>
        <p:spPr/>
        <p:txBody>
          <a:bodyPr/>
          <a:p>
            <a:r>
              <a:rPr lang="es-ES"/>
              <a:t/>
            </a: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Vertical Title and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337AEDD6-6608-4174-AA25-BB24439CECE3}" type="slidenum">
              <a:t>&lt;#&gt;</a:t>
            </a:fld>
          </a:p>
        </p:txBody>
      </p:sp>
      <p:sp>
        <p:nvSpPr>
          <p:cNvPr id="4" name="PlaceHolder 3"/>
          <p:cNvSpPr>
            <a:spLocks noGrp="1"/>
          </p:cNvSpPr>
          <p:nvPr>
            <p:ph type="dt" idx="6"/>
          </p:nvPr>
        </p:nvSpPr>
        <p:spPr/>
        <p:txBody>
          <a:bodyPr/>
          <a:p>
            <a:r>
              <a:rPr lang="es-ES"/>
              <a:t/>
            </a: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0F85AD7B-5511-4B7A-B3B2-DC47F0DCB1CA}" type="slidenum">
              <a:t>&lt;#&gt;</a:t>
            </a:fld>
          </a:p>
        </p:txBody>
      </p:sp>
      <p:sp>
        <p:nvSpPr>
          <p:cNvPr id="4" name="PlaceHolder 3"/>
          <p:cNvSpPr>
            <a:spLocks noGrp="1"/>
          </p:cNvSpPr>
          <p:nvPr>
            <p:ph type="dt" idx="9"/>
          </p:nvPr>
        </p:nvSpPr>
        <p:spPr/>
        <p:txBody>
          <a:bodyPr/>
          <a:p>
            <a:r>
              <a:rPr lang="es-ES"/>
              <a:t/>
            </a: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1_Vertical Title and Text">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00E3E747-7A41-4D13-8BD0-FC0E05140382}" type="slidenum">
              <a:t>&lt;#&gt;</a:t>
            </a:fld>
          </a:p>
        </p:txBody>
      </p:sp>
      <p:sp>
        <p:nvSpPr>
          <p:cNvPr id="4" name="PlaceHolder 3"/>
          <p:cNvSpPr>
            <a:spLocks noGrp="1"/>
          </p:cNvSpPr>
          <p:nvPr>
            <p:ph type="dt" idx="18"/>
          </p:nvPr>
        </p:nvSpPr>
        <p:spPr/>
        <p:txBody>
          <a:bodyPr/>
          <a:p>
            <a:r>
              <a:rPr lang="es-ES"/>
              <a:t/>
            </a: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624E3D2B-5AA2-443F-8C38-7EC2CC41CFCA}" type="slidenum">
              <a:t>&lt;#&gt;</a:t>
            </a:fld>
          </a:p>
        </p:txBody>
      </p:sp>
      <p:sp>
        <p:nvSpPr>
          <p:cNvPr id="4" name="PlaceHolder 3"/>
          <p:cNvSpPr>
            <a:spLocks noGrp="1"/>
          </p:cNvSpPr>
          <p:nvPr>
            <p:ph type="dt" idx="24"/>
          </p:nvPr>
        </p:nvSpPr>
        <p:spPr/>
        <p:txBody>
          <a:bodyPr/>
          <a:p>
            <a:r>
              <a:rPr lang="es-ES"/>
              <a:t/>
            </a: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Slide">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6_Vertical Title and Tex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3.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e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wmf"/><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e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9.png"/><Relationship Id="rId10" Type="http://schemas.openxmlformats.org/officeDocument/2006/relationships/image" Target="../media/image10.sv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13.png"/><Relationship Id="rId14" Type="http://schemas.openxmlformats.org/officeDocument/2006/relationships/image" Target="../media/image14.svg"/><Relationship Id="rId15" Type="http://schemas.openxmlformats.org/officeDocument/2006/relationships/image" Target="../media/image15.png"/><Relationship Id="rId16" Type="http://schemas.openxmlformats.org/officeDocument/2006/relationships/image" Target="../media/image16.svg"/><Relationship Id="rId17" Type="http://schemas.openxmlformats.org/officeDocument/2006/relationships/image" Target="../media/image17.png"/><Relationship Id="rId18" Type="http://schemas.openxmlformats.org/officeDocument/2006/relationships/image" Target="../media/image18.svg"/><Relationship Id="rId19" Type="http://schemas.openxmlformats.org/officeDocument/2006/relationships/image" Target="../media/image19.png"/><Relationship Id="rId20" Type="http://schemas.openxmlformats.org/officeDocument/2006/relationships/image" Target="../media/image20.svg"/><Relationship Id="rId21" Type="http://schemas.openxmlformats.org/officeDocument/2006/relationships/slideLayout" Target="../slideLayouts/slideLayout10.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3" name="PlaceHolder 1"/>
          <p:cNvSpPr>
            <a:spLocks noGrp="1"/>
          </p:cNvSpPr>
          <p:nvPr>
            <p:ph type="ftr" idx="1"/>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&lt;pie de página&gt;</a:t>
            </a:r>
            <a:endParaRPr lang="es" sz="1400" b="0" u="none" strike="noStrike">
              <a:solidFill>
                <a:srgbClr val="000000"/>
              </a:solidFill>
              <a:effectLst/>
              <a:uFillTx/>
              <a:latin typeface="Calibri"/>
            </a:endParaRPr>
          </a:p>
        </p:txBody>
      </p:sp>
      <p:sp>
        <p:nvSpPr>
          <p:cNvPr id="4" name="PlaceHolder 2"/>
          <p:cNvSpPr>
            <a:spLocks noGrp="1"/>
          </p:cNvSpPr>
          <p:nvPr>
            <p:ph type="sldNum" idx="2"/>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0E12B88E-4745-442D-B4A7-8EF91CC9A082}" type="slidenum">
              <a:rPr lang="el-GR" sz="1200" b="0" u="none" strike="noStrike">
                <a:solidFill>
                  <a:schemeClr val="dk1">
                    <a:tint val="82000"/>
                  </a:schemeClr>
                </a:solidFill>
                <a:effectLst/>
                <a:uFillTx/>
                <a:latin typeface="Calibri"/>
              </a:rPr>
              <a:t>&lt;número&gt;</a:t>
            </a:fld>
            <a:endParaRPr lang="es" sz="1200" b="0" u="none" strike="noStrike">
              <a:solidFill>
                <a:srgbClr val="000000"/>
              </a:solidFill>
              <a:effectLst/>
              <a:uFillTx/>
              <a:latin typeface="Calibri"/>
            </a:endParaRPr>
          </a:p>
        </p:txBody>
      </p:sp>
      <p:sp>
        <p:nvSpPr>
          <p:cNvPr id="5" name="PlaceHolder 3"/>
          <p:cNvSpPr>
            <a:spLocks noGrp="1"/>
          </p:cNvSpPr>
          <p:nvPr>
            <p:ph type="dt" idx="3"/>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4E6461A1-5B68-4D05-9B10-F4E508ED7EBC}" type="datetime">
              <a:rPr lang="es" sz="1400" b="0" u="none" strike="noStrike">
                <a:solidFill>
                  <a:srgbClr val="000000"/>
                </a:solidFill>
                <a:effectLst/>
                <a:uFillTx/>
                <a:latin typeface="Calibri"/>
              </a:rPr>
              <a:t>&lt;fecha/hora&gt;</a:t>
            </a:fld>
            <a:endParaRPr lang="es" sz="1400" b="0" u="none" strike="noStrike">
              <a:solidFill>
                <a:srgbClr val="000000"/>
              </a:solidFill>
              <a:effectLst/>
              <a:uFillTx/>
              <a:latin typeface="Calibri"/>
            </a:endParaRPr>
          </a:p>
        </p:txBody>
      </p:sp>
      <p:sp>
        <p:nvSpPr>
          <p:cNvPr id="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A16898BD-7E20-4005-8537-50657A229DC6}"/>
    </p:ext>
  </p:ext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9" name="PlaceHolder 1"/>
          <p:cNvSpPr>
            <a:spLocks noGrp="1"/>
          </p:cNvSpPr>
          <p:nvPr>
            <p:ph type="ftr" idx="4"/>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10" name="PlaceHolder 2"/>
          <p:cNvSpPr>
            <a:spLocks noGrp="1"/>
          </p:cNvSpPr>
          <p:nvPr>
            <p:ph type="sldNum" idx="5"/>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28F7FE3B-0490-4637-A1F8-0F0139739B66}"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11" name="PlaceHolder 3"/>
          <p:cNvSpPr>
            <a:spLocks noGrp="1"/>
          </p:cNvSpPr>
          <p:nvPr>
            <p:ph type="dt" idx="6"/>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09BFE1AD-9165-460A-93DD-A5ECFA08A3A4}"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1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1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1"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A05FE6CD-109E-481F-81FB-CDB9514696ED}"/>
    </p:ext>
  </p:ext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15" name="PlaceHolder 1"/>
          <p:cNvSpPr>
            <a:spLocks noGrp="1"/>
          </p:cNvSpPr>
          <p:nvPr>
            <p:ph type="ftr" idx="7"/>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16" name="PlaceHolder 2"/>
          <p:cNvSpPr>
            <a:spLocks noGrp="1"/>
          </p:cNvSpPr>
          <p:nvPr>
            <p:ph type="sldNum" idx="8"/>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FB2CE001-9977-41C2-A8A8-19DB6D26CDB6}"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17" name="PlaceHolder 3"/>
          <p:cNvSpPr>
            <a:spLocks noGrp="1"/>
          </p:cNvSpPr>
          <p:nvPr>
            <p:ph type="dt" idx="9"/>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B5EE038F-F036-4729-BB10-FAD2E1A52E2A}"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1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1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3"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DBD1D606-E7F8-4B1C-BF4B-981C776DAC9A}"/>
    </p:ext>
  </p:ext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6"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37" name="PlaceHolder 1"/>
          <p:cNvSpPr>
            <a:spLocks noGrp="1"/>
          </p:cNvSpPr>
          <p:nvPr>
            <p:ph type="ftr" idx="16"/>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38" name="PlaceHolder 2"/>
          <p:cNvSpPr>
            <a:spLocks noGrp="1"/>
          </p:cNvSpPr>
          <p:nvPr>
            <p:ph type="sldNum" idx="17"/>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6667226D-4C82-4410-91B3-CBA68863B8D8}"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39" name="PlaceHolder 3"/>
          <p:cNvSpPr>
            <a:spLocks noGrp="1"/>
          </p:cNvSpPr>
          <p:nvPr>
            <p:ph type="dt" idx="18"/>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F2FA9CC7-796F-46CC-93D7-A75474336BCC}"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40"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4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9"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7ECC5125-EF83-40E3-8421-597C71BFC4F8}"/>
    </p:ext>
  </p:ext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8"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pic>
        <p:nvPicPr>
          <p:cNvPr id="49" name="Picture 1" descr="A close up of a network&#10;&#10;Description automatically generated"/>
          <p:cNvPicPr/>
          <p:nvPr/>
        </p:nvPicPr>
        <p:blipFill>
          <a:blip r:embed="rId4"/>
          <a:stretch/>
        </p:blipFill>
        <p:spPr>
          <a:xfrm>
            <a:off x="-3107160" y="-2520"/>
            <a:ext cx="6968880" cy="6908400"/>
          </a:xfrm>
          <a:prstGeom prst="rect">
            <a:avLst/>
          </a:prstGeom>
          <a:noFill/>
          <a:ln w="0">
            <a:noFill/>
          </a:ln>
        </p:spPr>
      </p:pic>
      <p:pic>
        <p:nvPicPr>
          <p:cNvPr id="50" name="Graphic 19"/>
          <p:cNvPicPr/>
          <p:nvPr/>
        </p:nvPicPr>
        <p:blipFill>
          <a:blip r:embed="rId5">
            <a:extLst>
              <a:ext uri="{96DAC541-7B7A-43D3-8B79-37D633B846F1}">
                <asvg:svgBlip xmlns:asvg="http://schemas.microsoft.com/office/drawing/2016/SVG/main" r:embed="rId6"/>
              </a:ext>
            </a:extLst>
          </a:blip>
          <a:stretch/>
        </p:blipFill>
        <p:spPr>
          <a:xfrm>
            <a:off x="608400" y="5986440"/>
            <a:ext cx="775440" cy="668520"/>
          </a:xfrm>
          <a:prstGeom prst="rect">
            <a:avLst/>
          </a:prstGeom>
          <a:noFill/>
          <a:ln w="0">
            <a:noFill/>
          </a:ln>
        </p:spPr>
      </p:pic>
      <p:sp>
        <p:nvSpPr>
          <p:cNvPr id="51" name="PlaceHolder 1"/>
          <p:cNvSpPr>
            <a:spLocks noGrp="1"/>
          </p:cNvSpPr>
          <p:nvPr>
            <p:ph type="ftr" idx="22"/>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52" name="PlaceHolder 2"/>
          <p:cNvSpPr>
            <a:spLocks noGrp="1"/>
          </p:cNvSpPr>
          <p:nvPr>
            <p:ph type="sldNum" idx="23"/>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E2A50FAF-F937-43AF-AF55-BB87C9F49352}"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53" name="PlaceHolder 3"/>
          <p:cNvSpPr>
            <a:spLocks noGrp="1"/>
          </p:cNvSpPr>
          <p:nvPr>
            <p:ph type="dt" idx="24"/>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55B2BCD8-E3C1-46DC-A109-8B89D7D952B4}"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5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5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3" r:id="rId7"/>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147051C4-E50A-47BD-B1E7-0D6C347B2057}"/>
    </p:ext>
  </p:ext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6"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57" name="TextBox 8"/>
          <p:cNvSpPr/>
          <p:nvPr/>
        </p:nvSpPr>
        <p:spPr>
          <a:xfrm>
            <a:off x="1202040" y="6033240"/>
            <a:ext cx="4811760" cy="638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lt1"/>
                </a:solidFill>
                <a:effectLst/>
                <a:uFillTx/>
                <a:latin typeface="Calibri"/>
              </a:rPr>
              <a:t>This project has received funding from the European Union’s Horizon Europe Research and Innovation Programme under Grant Agreement no. 101094402</a:t>
            </a:r>
            <a:endParaRPr lang="es" sz="1200" b="0" u="none" strike="noStrike">
              <a:solidFill>
                <a:srgbClr val="000000"/>
              </a:solidFill>
              <a:effectLst/>
              <a:uFillTx/>
              <a:latin typeface="Calibri"/>
            </a:endParaRPr>
          </a:p>
        </p:txBody>
      </p:sp>
      <p:pic>
        <p:nvPicPr>
          <p:cNvPr id="58" name="Εικόνα 4"/>
          <p:cNvPicPr/>
          <p:nvPr/>
        </p:nvPicPr>
        <p:blipFill>
          <a:blip r:embed="rId4"/>
          <a:stretch/>
        </p:blipFill>
        <p:spPr>
          <a:xfrm>
            <a:off x="477000" y="6071040"/>
            <a:ext cx="730800" cy="486720"/>
          </a:xfrm>
          <a:prstGeom prst="rect">
            <a:avLst/>
          </a:prstGeom>
          <a:noFill/>
          <a:ln w="0">
            <a:noFill/>
          </a:ln>
        </p:spPr>
      </p:pic>
      <p:sp>
        <p:nvSpPr>
          <p:cNvPr id="59" name="TextBox 15"/>
          <p:cNvSpPr/>
          <p:nvPr/>
        </p:nvSpPr>
        <p:spPr>
          <a:xfrm>
            <a:off x="1444320" y="5991840"/>
            <a:ext cx="4811760" cy="638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lt1"/>
                </a:solidFill>
                <a:effectLst/>
                <a:uFillTx/>
                <a:latin typeface="Calibri"/>
              </a:rPr>
              <a:t>This project has received funding from the European Union’s Horizon Europe Research and Innovation Programme under Grant Agreement no. 101094402</a:t>
            </a:r>
            <a:endParaRPr lang="es" sz="1200" b="0" u="none" strike="noStrike">
              <a:solidFill>
                <a:srgbClr val="000000"/>
              </a:solidFill>
              <a:effectLst/>
              <a:uFillTx/>
              <a:latin typeface="Calibri"/>
            </a:endParaRPr>
          </a:p>
        </p:txBody>
      </p:sp>
      <p:pic>
        <p:nvPicPr>
          <p:cNvPr id="60" name="Graphic 2"/>
          <p:cNvPicPr/>
          <p:nvPr/>
        </p:nvPicPr>
        <p:blipFill>
          <a:blip r:embed="rId5">
            <a:extLst>
              <a:ext uri="{96DAC541-7B7A-43D3-8B79-37D633B846F1}">
                <asvg:svgBlip xmlns:asvg="http://schemas.microsoft.com/office/drawing/2016/SVG/main" r:embed="rId6"/>
              </a:ext>
            </a:extLst>
          </a:blip>
          <a:stretch/>
        </p:blipFill>
        <p:spPr>
          <a:xfrm>
            <a:off x="10608840" y="437760"/>
            <a:ext cx="1164600" cy="1004400"/>
          </a:xfrm>
          <a:prstGeom prst="rect">
            <a:avLst/>
          </a:prstGeom>
          <a:noFill/>
          <a:ln w="0">
            <a:noFill/>
          </a:ln>
        </p:spPr>
      </p:pic>
      <p:pic>
        <p:nvPicPr>
          <p:cNvPr id="61" name="Graphic 16"/>
          <p:cNvPicPr/>
          <p:nvPr/>
        </p:nvPicPr>
        <p:blipFill>
          <a:blip r:embed="rId7">
            <a:extLst>
              <a:ext uri="{96DAC541-7B7A-43D3-8B79-37D633B846F1}">
                <asvg:svgBlip xmlns:asvg="http://schemas.microsoft.com/office/drawing/2016/SVG/main" r:embed="rId8"/>
              </a:ext>
            </a:extLst>
          </a:blip>
          <a:stretch/>
        </p:blipFill>
        <p:spPr>
          <a:xfrm>
            <a:off x="-92880" y="-1703160"/>
            <a:ext cx="7189920" cy="8989560"/>
          </a:xfrm>
          <a:prstGeom prst="rect">
            <a:avLst/>
          </a:prstGeom>
          <a:noFill/>
          <a:ln w="0">
            <a:noFill/>
          </a:ln>
        </p:spPr>
      </p:pic>
      <p:sp>
        <p:nvSpPr>
          <p:cNvPr id="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6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5" r:id="rId9"/>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68D26C28-EF4E-49B0-842E-F106A5C15ABB}"/>
    </p:ext>
  </p:ext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4"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pic>
        <p:nvPicPr>
          <p:cNvPr id="65" name="Picture 38" descr="A close up of a network&#10;&#10;Description automatically generated"/>
          <p:cNvPicPr/>
          <p:nvPr/>
        </p:nvPicPr>
        <p:blipFill>
          <a:blip r:embed="rId4"/>
          <a:stretch/>
        </p:blipFill>
        <p:spPr>
          <a:xfrm>
            <a:off x="5880240" y="-38160"/>
            <a:ext cx="7143840" cy="7081920"/>
          </a:xfrm>
          <a:prstGeom prst="rect">
            <a:avLst/>
          </a:prstGeom>
          <a:noFill/>
          <a:ln w="0">
            <a:noFill/>
          </a:ln>
        </p:spPr>
      </p:pic>
      <p:sp>
        <p:nvSpPr>
          <p:cNvPr id="66" name="TextBox 2"/>
          <p:cNvSpPr/>
          <p:nvPr/>
        </p:nvSpPr>
        <p:spPr>
          <a:xfrm>
            <a:off x="1341000" y="2498040"/>
            <a:ext cx="37785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67" name="TextBox 3"/>
          <p:cNvSpPr/>
          <p:nvPr/>
        </p:nvSpPr>
        <p:spPr>
          <a:xfrm>
            <a:off x="1341000" y="3013920"/>
            <a:ext cx="37785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68" name="TextBox 22"/>
          <p:cNvSpPr/>
          <p:nvPr/>
        </p:nvSpPr>
        <p:spPr>
          <a:xfrm>
            <a:off x="1341000" y="3553560"/>
            <a:ext cx="41439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69" name="TextBox 25"/>
          <p:cNvSpPr/>
          <p:nvPr/>
        </p:nvSpPr>
        <p:spPr>
          <a:xfrm>
            <a:off x="1341000" y="4093200"/>
            <a:ext cx="41439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70" name="TextBox 26"/>
          <p:cNvSpPr/>
          <p:nvPr/>
        </p:nvSpPr>
        <p:spPr>
          <a:xfrm>
            <a:off x="1341000" y="4596120"/>
            <a:ext cx="37785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71" name="Title 1"/>
          <p:cNvSpPr/>
          <p:nvPr/>
        </p:nvSpPr>
        <p:spPr>
          <a:xfrm>
            <a:off x="8047080" y="4500000"/>
            <a:ext cx="3377160" cy="885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90000"/>
              </a:lnSpc>
            </a:pPr>
            <a:r>
              <a:rPr lang="en-US" sz="4000" b="0" u="none" strike="noStrike">
                <a:solidFill>
                  <a:schemeClr val="lt1"/>
                </a:solidFill>
                <a:effectLst/>
                <a:uFillTx/>
                <a:latin typeface="Didact Gothic"/>
              </a:rPr>
              <a:t>THANK YOU</a:t>
            </a:r>
            <a:endParaRPr lang="es" sz="4000" b="0" u="none" strike="noStrike">
              <a:solidFill>
                <a:srgbClr val="000000"/>
              </a:solidFill>
              <a:effectLst/>
              <a:uFillTx/>
              <a:latin typeface="Calibri"/>
            </a:endParaRPr>
          </a:p>
        </p:txBody>
      </p:sp>
      <p:pic>
        <p:nvPicPr>
          <p:cNvPr id="72" name="Graphic 4"/>
          <p:cNvPicPr/>
          <p:nvPr/>
        </p:nvPicPr>
        <p:blipFill>
          <a:blip r:embed="rId5">
            <a:extLst>
              <a:ext uri="{96DAC541-7B7A-43D3-8B79-37D633B846F1}">
                <asvg:svgBlip xmlns:asvg="http://schemas.microsoft.com/office/drawing/2016/SVG/main" r:embed="rId6"/>
              </a:ext>
            </a:extLst>
          </a:blip>
          <a:stretch/>
        </p:blipFill>
        <p:spPr>
          <a:xfrm>
            <a:off x="8851680" y="2388960"/>
            <a:ext cx="1768320" cy="1525320"/>
          </a:xfrm>
          <a:prstGeom prst="rect">
            <a:avLst/>
          </a:prstGeom>
          <a:noFill/>
          <a:ln w="0">
            <a:noFill/>
          </a:ln>
        </p:spPr>
      </p:pic>
      <p:pic>
        <p:nvPicPr>
          <p:cNvPr id="73" name="Graphic 9"/>
          <p:cNvPicPr/>
          <p:nvPr/>
        </p:nvPicPr>
        <p:blipFill>
          <a:blip r:embed="rId7">
            <a:extLst>
              <a:ext uri="{96DAC541-7B7A-43D3-8B79-37D633B846F1}">
                <asvg:svgBlip xmlns:asvg="http://schemas.microsoft.com/office/drawing/2016/SVG/main" r:embed="rId8"/>
              </a:ext>
            </a:extLst>
          </a:blip>
          <a:stretch/>
        </p:blipFill>
        <p:spPr>
          <a:xfrm>
            <a:off x="0" y="0"/>
            <a:ext cx="12190680" cy="6856560"/>
          </a:xfrm>
          <a:prstGeom prst="rect">
            <a:avLst/>
          </a:prstGeom>
          <a:noFill/>
          <a:ln w="0">
            <a:noFill/>
          </a:ln>
        </p:spPr>
      </p:pic>
      <p:pic>
        <p:nvPicPr>
          <p:cNvPr id="74" name="Graphic 11"/>
          <p:cNvPicPr/>
          <p:nvPr/>
        </p:nvPicPr>
        <p:blipFill>
          <a:blip r:embed="rId9">
            <a:extLst>
              <a:ext uri="{96DAC541-7B7A-43D3-8B79-37D633B846F1}">
                <asvg:svgBlip xmlns:asvg="http://schemas.microsoft.com/office/drawing/2016/SVG/main" r:embed="rId10"/>
              </a:ext>
            </a:extLst>
          </a:blip>
          <a:stretch/>
        </p:blipFill>
        <p:spPr>
          <a:xfrm>
            <a:off x="0" y="0"/>
            <a:ext cx="12190680" cy="6856560"/>
          </a:xfrm>
          <a:prstGeom prst="rect">
            <a:avLst/>
          </a:prstGeom>
          <a:noFill/>
          <a:ln w="0">
            <a:noFill/>
          </a:ln>
        </p:spPr>
      </p:pic>
      <p:pic>
        <p:nvPicPr>
          <p:cNvPr id="75" name="Graphic 17"/>
          <p:cNvPicPr/>
          <p:nvPr/>
        </p:nvPicPr>
        <p:blipFill>
          <a:blip r:embed="rId11">
            <a:extLst>
              <a:ext uri="{96DAC541-7B7A-43D3-8B79-37D633B846F1}">
                <asvg:svgBlip xmlns:asvg="http://schemas.microsoft.com/office/drawing/2016/SVG/main" r:embed="rId12"/>
              </a:ext>
            </a:extLst>
          </a:blip>
          <a:stretch/>
        </p:blipFill>
        <p:spPr>
          <a:xfrm>
            <a:off x="833760" y="2422080"/>
            <a:ext cx="370080" cy="370080"/>
          </a:xfrm>
          <a:prstGeom prst="rect">
            <a:avLst/>
          </a:prstGeom>
          <a:noFill/>
          <a:ln w="0">
            <a:noFill/>
          </a:ln>
        </p:spPr>
      </p:pic>
      <p:pic>
        <p:nvPicPr>
          <p:cNvPr id="76" name="Graphic 30"/>
          <p:cNvPicPr/>
          <p:nvPr/>
        </p:nvPicPr>
        <p:blipFill>
          <a:blip r:embed="rId13">
            <a:extLst>
              <a:ext uri="{96DAC541-7B7A-43D3-8B79-37D633B846F1}">
                <asvg:svgBlip xmlns:asvg="http://schemas.microsoft.com/office/drawing/2016/SVG/main" r:embed="rId14"/>
              </a:ext>
            </a:extLst>
          </a:blip>
          <a:stretch/>
        </p:blipFill>
        <p:spPr>
          <a:xfrm>
            <a:off x="843120" y="3480120"/>
            <a:ext cx="370080" cy="370080"/>
          </a:xfrm>
          <a:prstGeom prst="rect">
            <a:avLst/>
          </a:prstGeom>
          <a:noFill/>
          <a:ln w="0">
            <a:noFill/>
          </a:ln>
        </p:spPr>
      </p:pic>
      <p:pic>
        <p:nvPicPr>
          <p:cNvPr id="77" name="Graphic 32"/>
          <p:cNvPicPr/>
          <p:nvPr/>
        </p:nvPicPr>
        <p:blipFill>
          <a:blip r:embed="rId15">
            <a:extLst>
              <a:ext uri="{96DAC541-7B7A-43D3-8B79-37D633B846F1}">
                <asvg:svgBlip xmlns:asvg="http://schemas.microsoft.com/office/drawing/2016/SVG/main" r:embed="rId16"/>
              </a:ext>
            </a:extLst>
          </a:blip>
          <a:stretch/>
        </p:blipFill>
        <p:spPr>
          <a:xfrm>
            <a:off x="833760" y="2958480"/>
            <a:ext cx="360360" cy="360360"/>
          </a:xfrm>
          <a:prstGeom prst="rect">
            <a:avLst/>
          </a:prstGeom>
          <a:noFill/>
          <a:ln w="0">
            <a:noFill/>
          </a:ln>
        </p:spPr>
      </p:pic>
      <p:pic>
        <p:nvPicPr>
          <p:cNvPr id="78" name="Graphic 34"/>
          <p:cNvPicPr/>
          <p:nvPr/>
        </p:nvPicPr>
        <p:blipFill>
          <a:blip r:embed="rId17">
            <a:extLst>
              <a:ext uri="{96DAC541-7B7A-43D3-8B79-37D633B846F1}">
                <asvg:svgBlip xmlns:asvg="http://schemas.microsoft.com/office/drawing/2016/SVG/main" r:embed="rId18"/>
              </a:ext>
            </a:extLst>
          </a:blip>
          <a:stretch/>
        </p:blipFill>
        <p:spPr>
          <a:xfrm>
            <a:off x="843120" y="4041720"/>
            <a:ext cx="370080" cy="370080"/>
          </a:xfrm>
          <a:prstGeom prst="rect">
            <a:avLst/>
          </a:prstGeom>
          <a:noFill/>
          <a:ln w="0">
            <a:noFill/>
          </a:ln>
        </p:spPr>
      </p:pic>
      <p:pic>
        <p:nvPicPr>
          <p:cNvPr id="79" name="Graphic 36"/>
          <p:cNvPicPr/>
          <p:nvPr/>
        </p:nvPicPr>
        <p:blipFill>
          <a:blip r:embed="rId19">
            <a:extLst>
              <a:ext uri="{96DAC541-7B7A-43D3-8B79-37D633B846F1}">
                <asvg:svgBlip xmlns:asvg="http://schemas.microsoft.com/office/drawing/2016/SVG/main" r:embed="rId20"/>
              </a:ext>
            </a:extLst>
          </a:blip>
          <a:stretch/>
        </p:blipFill>
        <p:spPr>
          <a:xfrm>
            <a:off x="847080" y="4540320"/>
            <a:ext cx="370080" cy="370080"/>
          </a:xfrm>
          <a:prstGeom prst="rect">
            <a:avLst/>
          </a:prstGeom>
          <a:noFill/>
          <a:ln w="0">
            <a:noFill/>
          </a:ln>
        </p:spPr>
      </p:pic>
      <p:sp>
        <p:nvSpPr>
          <p:cNvPr id="8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8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7" r:id="rId21"/>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025BCD34-7398-4729-9BF7-240F18A071EB}"/>
    </p:ext>
  </p:extLst>
</p:sldMaster>
</file>

<file path=ppt/slides/_rels/slide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image" Target="../media/image22.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image" Target="../media/image23.jpg"/><Relationship Id="rId2" Type="http://schemas.openxmlformats.org/officeDocument/2006/relationships/slideLayout" Target="../slideLayouts/slideLayout2.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hyperlink" Target="https://www.linkedin.com/company/xtract-project/" TargetMode="External"/><Relationship Id="rId2" Type="http://schemas.openxmlformats.org/officeDocument/2006/relationships/hyperlink" Target="https://www.youtube.com/channel/UC9eNoqHV2BLXc37Q_CTwFuQ" TargetMode="External"/><Relationship Id="rId3" Type="http://schemas.openxmlformats.org/officeDocument/2006/relationships/hyperlink" Target="https://twitter.com/xtract_project" TargetMode="External"/><Relationship Id="rId4" Type="http://schemas.openxmlformats.org/officeDocument/2006/relationships/hyperlink" Target="https://xtract-project.eu/" TargetMode="External"/><Relationship Id="rId5" Type="http://schemas.openxmlformats.org/officeDocument/2006/relationships/hyperlink" Target="mailto:info@xtract-project.eu" TargetMode="External"/><Relationship Id="rId6" Type="http://schemas.openxmlformats.org/officeDocument/2006/relationships/image" Target="../media/image21.pn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grpSp>
        <p:nvGrpSpPr>
          <p:cNvPr id="87" name="Group 19"/>
          <p:cNvGrpSpPr/>
          <p:nvPr/>
        </p:nvGrpSpPr>
        <p:grpSpPr>
          <a:xfrm>
            <a:off x="7091640" y="5924160"/>
            <a:ext cx="5031000" cy="891720"/>
            <a:chOff x="7091640" y="5924160"/>
            <a:chExt cx="5031000" cy="891720"/>
          </a:xfrm>
        </p:grpSpPr>
        <p:sp>
          <p:nvSpPr>
            <p:cNvPr id="88" name="TextBox 8"/>
            <p:cNvSpPr/>
            <p:nvPr/>
          </p:nvSpPr>
          <p:spPr>
            <a:xfrm>
              <a:off x="7864560" y="6070320"/>
              <a:ext cx="4258080" cy="569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050" b="0" u="none" strike="noStrike">
                  <a:solidFill>
                    <a:schemeClr val="dk1"/>
                  </a:solidFill>
                  <a:effectLst/>
                  <a:uFillTx/>
                  <a:latin typeface="Didact Gothic"/>
                </a:rPr>
                <a:t>This project has received funding from the European Union’s Horizon Europe Research and Innovation Programme under Grant Agreement no. 101138432</a:t>
              </a:r>
              <a:endParaRPr lang="es" sz="1050" b="0" u="none" strike="noStrike">
                <a:solidFill>
                  <a:srgbClr val="000000"/>
                </a:solidFill>
                <a:effectLst/>
                <a:uFillTx/>
                <a:latin typeface="Calibri"/>
              </a:endParaRPr>
            </a:p>
          </p:txBody>
        </p:sp>
        <p:pic>
          <p:nvPicPr>
            <p:cNvPr id="89" name="Picture 16" descr="A blue flag with yellow stars&#10;&#10;Description automatically generated"/>
            <p:cNvPicPr/>
            <p:nvPr/>
          </p:nvPicPr>
          <p:blipFill>
            <a:blip r:embed="rId1"/>
            <a:stretch/>
          </p:blipFill>
          <p:spPr>
            <a:xfrm>
              <a:off x="7091640" y="5924160"/>
              <a:ext cx="880200" cy="891720"/>
            </a:xfrm>
            <a:prstGeom prst="rect">
              <a:avLst/>
            </a:prstGeom>
            <a:noFill/>
            <a:ln w="0">
              <a:noFill/>
            </a:ln>
          </p:spPr>
        </p:pic>
      </p:grpSp>
      <p:sp>
        <p:nvSpPr>
          <p:cNvPr id="90" name="TextBox 89"/>
          <p:cNvSpPr txBox="1"/>
          <p:nvPr/>
        </p:nvSpPr>
        <p:spPr>
          <a:xfrm>
            <a:off x="7251192" y="1874519"/>
            <a:ext cx="4572000" cy="475488"/>
          </a:xfrm>
          <a:prstGeom prst="rect">
            <a:avLst/>
          </a:prstGeom>
          <a:noFill/>
        </p:spPr>
        <p:txBody>
          <a:bodyPr wrap="square" lIns="0" rIns="0" tIns="0" bIns="0" anchor="t">
            <a:spAutoFit/>
          </a:bodyPr>
          <a:lstStyle/>
          <a:p>
            <a:pPr algn="l">
              <a:lnSpc>
                <a:spcPct val="110000"/>
              </a:lnSpc>
              <a:spcAft>
                <a:spcPts val="400"/>
              </a:spcAft>
            </a:pPr>
            <a:r>
              <a:rPr sz="3100" b="1" spc="0">
                <a:solidFill>
                  <a:srgbClr val="5A8C3E"/>
                </a:solidFill>
                <a:latin typeface="Didact Gothic"/>
              </a:rPr>
              <a:t>WP5 | T5.1</a:t>
            </a:r>
          </a:p>
        </p:txBody>
      </p:sp>
      <p:sp>
        <p:nvSpPr>
          <p:cNvPr id="91" name="TextBox 90"/>
          <p:cNvSpPr txBox="1"/>
          <p:nvPr/>
        </p:nvSpPr>
        <p:spPr>
          <a:xfrm>
            <a:off x="7251192" y="2404872"/>
            <a:ext cx="4572000" cy="786384"/>
          </a:xfrm>
          <a:prstGeom prst="rect">
            <a:avLst/>
          </a:prstGeom>
          <a:noFill/>
        </p:spPr>
        <p:txBody>
          <a:bodyPr wrap="square" lIns="0" rIns="0" tIns="0" bIns="0" anchor="t">
            <a:spAutoFit/>
          </a:bodyPr>
          <a:lstStyle/>
          <a:p>
            <a:pPr algn="l">
              <a:lnSpc>
                <a:spcPct val="110000"/>
              </a:lnSpc>
              <a:spcAft>
                <a:spcPts val="400"/>
              </a:spcAft>
            </a:pPr>
            <a:r>
              <a:rPr sz="2600" b="1" spc="0">
                <a:solidFill>
                  <a:srgbClr val="162C40"/>
                </a:solidFill>
                <a:latin typeface="Didact Gothic"/>
              </a:rPr>
              <a:t>Outdoor UAV</a:t>
            </a:r>
          </a:p>
          <a:p>
            <a:pPr algn="l">
              <a:lnSpc>
                <a:spcPct val="110000"/>
              </a:lnSpc>
              <a:spcAft>
                <a:spcPts val="400"/>
              </a:spcAft>
            </a:pPr>
            <a:r>
              <a:rPr sz="2600" b="1" spc="0">
                <a:solidFill>
                  <a:srgbClr val="162C40"/>
                </a:solidFill>
                <a:latin typeface="Didact Gothic"/>
              </a:rPr>
              <a:t>configuration</a:t>
            </a:r>
          </a:p>
        </p:txBody>
      </p:sp>
      <p:sp>
        <p:nvSpPr>
          <p:cNvPr id="92" name="TextBox 91"/>
          <p:cNvSpPr txBox="1"/>
          <p:nvPr/>
        </p:nvSpPr>
        <p:spPr>
          <a:xfrm>
            <a:off x="7251192" y="3374136"/>
            <a:ext cx="4572000" cy="320040"/>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XTRACT 7th General Assembly</a:t>
            </a:r>
          </a:p>
        </p:txBody>
      </p:sp>
      <p:sp>
        <p:nvSpPr>
          <p:cNvPr id="93" name="TextBox 92"/>
          <p:cNvSpPr txBox="1"/>
          <p:nvPr/>
        </p:nvSpPr>
        <p:spPr>
          <a:xfrm>
            <a:off x="7251192" y="3749039"/>
            <a:ext cx="4572000" cy="274320"/>
          </a:xfrm>
          <a:prstGeom prst="rect">
            <a:avLst/>
          </a:prstGeom>
          <a:noFill/>
        </p:spPr>
        <p:txBody>
          <a:bodyPr wrap="square" lIns="0" rIns="0" tIns="0" bIns="0" anchor="t">
            <a:spAutoFit/>
          </a:bodyPr>
          <a:lstStyle/>
          <a:p>
            <a:pPr algn="l">
              <a:lnSpc>
                <a:spcPct val="110000"/>
              </a:lnSpc>
              <a:spcAft>
                <a:spcPts val="400"/>
              </a:spcAft>
            </a:pPr>
            <a:r>
              <a:rPr sz="1400" b="0" spc="0">
                <a:solidFill>
                  <a:srgbClr val="5A8C3E"/>
                </a:solidFill>
                <a:latin typeface="Didact Gothic"/>
              </a:rPr>
              <a:t>Online | 14 October 2026</a:t>
            </a:r>
          </a:p>
        </p:txBody>
      </p:sp>
      <p:sp>
        <p:nvSpPr>
          <p:cNvPr id="94" name="TextBox 93"/>
          <p:cNvSpPr txBox="1"/>
          <p:nvPr/>
        </p:nvSpPr>
        <p:spPr>
          <a:xfrm>
            <a:off x="7251192" y="4352544"/>
            <a:ext cx="4572000" cy="320040"/>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Andreas Lefkatis</a:t>
            </a:r>
          </a:p>
        </p:txBody>
      </p:sp>
      <p:sp>
        <p:nvSpPr>
          <p:cNvPr id="95" name="TextBox 94"/>
          <p:cNvSpPr txBox="1"/>
          <p:nvPr/>
        </p:nvSpPr>
        <p:spPr>
          <a:xfrm>
            <a:off x="7251192" y="4736592"/>
            <a:ext cx="4572000" cy="310896"/>
          </a:xfrm>
          <a:prstGeom prst="rect">
            <a:avLst/>
          </a:prstGeom>
          <a:noFill/>
        </p:spPr>
        <p:txBody>
          <a:bodyPr wrap="square" lIns="0" rIns="0" tIns="0" bIns="0" anchor="t">
            <a:spAutoFit/>
          </a:bodyPr>
          <a:lstStyle/>
          <a:p>
            <a:pPr algn="l">
              <a:lnSpc>
                <a:spcPct val="110000"/>
              </a:lnSpc>
              <a:spcAft>
                <a:spcPts val="400"/>
              </a:spcAft>
            </a:pPr>
            <a:r>
              <a:rPr sz="1500" b="0" spc="0">
                <a:solidFill>
                  <a:srgbClr val="162C40"/>
                </a:solidFill>
                <a:latin typeface="Didact Gothic"/>
              </a:rPr>
              <a:t>T5.1 Task Lead | ACCELIGENCE</a:t>
            </a:r>
          </a:p>
        </p:txBody>
      </p:sp>
      <p:sp>
        <p:nvSpPr>
          <p:cNvPr id="96" name="TextBox 95"/>
          <p:cNvSpPr txBox="1"/>
          <p:nvPr/>
        </p:nvSpPr>
        <p:spPr>
          <a:xfrm>
            <a:off x="7251192" y="5093208"/>
            <a:ext cx="4572000" cy="274320"/>
          </a:xfrm>
          <a:prstGeom prst="rect">
            <a:avLst/>
          </a:prstGeom>
          <a:noFill/>
        </p:spPr>
        <p:txBody>
          <a:bodyPr wrap="square" lIns="0" rIns="0" tIns="0" bIns="0" anchor="t">
            <a:spAutoFit/>
          </a:bodyPr>
          <a:lstStyle/>
          <a:p>
            <a:pPr algn="l">
              <a:lnSpc>
                <a:spcPct val="110000"/>
              </a:lnSpc>
              <a:spcAft>
                <a:spcPts val="400"/>
              </a:spcAft>
            </a:pPr>
            <a:r>
              <a:rPr sz="1400" b="0" spc="0">
                <a:solidFill>
                  <a:srgbClr val="162C40"/>
                </a:solidFill>
                <a:latin typeface="Didact Gothic"/>
              </a:rPr>
              <a:t>andreas.lefkatis@acceligence.cy</a:t>
            </a:r>
          </a:p>
        </p:txBody>
      </p:sp>
      <p:sp>
        <p:nvSpPr>
          <p:cNvPr id="97" name="TextBox 96"/>
          <p:cNvSpPr txBox="1"/>
          <p:nvPr/>
        </p:nvSpPr>
        <p:spPr>
          <a:xfrm>
            <a:off x="7251192" y="5504688"/>
            <a:ext cx="4572000" cy="274320"/>
          </a:xfrm>
          <a:prstGeom prst="rect">
            <a:avLst/>
          </a:prstGeom>
          <a:noFill/>
        </p:spPr>
        <p:txBody>
          <a:bodyPr wrap="square" lIns="0" rIns="0" tIns="0" bIns="0" anchor="t">
            <a:spAutoFit/>
          </a:bodyPr>
          <a:lstStyle/>
          <a:p>
            <a:pPr algn="l">
              <a:lnSpc>
                <a:spcPct val="110000"/>
              </a:lnSpc>
              <a:spcAft>
                <a:spcPts val="400"/>
              </a:spcAft>
            </a:pPr>
            <a:r>
              <a:rPr sz="1400" b="0" spc="0">
                <a:solidFill>
                  <a:srgbClr val="5A8C3E"/>
                </a:solidFill>
                <a:latin typeface="Didact Gothic"/>
              </a:rPr>
              <a:t>Drone provision and platform validation</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B2429679-2267-4AD0-B2F8-54E835114629}"/>
    </p:ext>
  </p:extLs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T5.1 – Risks and mitigations</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Managed platform risks; pilot-specific lessons to be consolidated after the debrief</a:t>
            </a:r>
          </a:p>
        </p:txBody>
      </p:sp>
      <p:graphicFrame>
        <p:nvGraphicFramePr>
          <p:cNvPr id="4" name="Table 3"/>
          <p:cNvGraphicFramePr>
            <a:graphicFrameLocks noGrp="1"/>
          </p:cNvGraphicFramePr>
          <p:nvPr/>
        </p:nvGraphicFramePr>
        <p:xfrm>
          <a:off x="768096" y="1792224"/>
          <a:ext cx="10652759" cy="3547872"/>
        </p:xfrm>
        <a:graphic>
          <a:graphicData uri="http://schemas.openxmlformats.org/drawingml/2006/table">
            <a:tbl>
              <a:tblPr firstRow="1" bandRow="1">
                <a:tableStyleId>{5C22544A-7EE6-4342-B048-85BDC9FD1C3A}</a:tableStyleId>
              </a:tblPr>
              <a:tblGrid>
                <a:gridCol w="1965960"/>
                <a:gridCol w="2029968"/>
                <a:gridCol w="3712463"/>
                <a:gridCol w="2944368"/>
              </a:tblGrid>
              <a:tr h="475488">
                <a:tc>
                  <a:txBody>
                    <a:bodyPr/>
                    <a:lstStyle/>
                    <a:p>
                      <a:pPr>
                        <a:lnSpc>
                          <a:spcPct val="100000"/>
                        </a:lnSpc>
                        <a:spcAft>
                          <a:spcPts val="0"/>
                        </a:spcAft>
                      </a:pPr>
                      <a:r>
                        <a:rPr sz="1550" b="1">
                          <a:solidFill>
                            <a:srgbClr val="FFFFFF"/>
                          </a:solidFill>
                          <a:latin typeface="Didact Gothic"/>
                        </a:rPr>
                        <a:t>Risk / constraint</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50" b="1">
                          <a:solidFill>
                            <a:srgbClr val="FFFFFF"/>
                          </a:solidFill>
                          <a:latin typeface="Didact Gothic"/>
                        </a:rPr>
                        <a:t>Potential impact</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50" b="1">
                          <a:solidFill>
                            <a:srgbClr val="FFFFFF"/>
                          </a:solidFill>
                          <a:latin typeface="Didact Gothic"/>
                        </a:rPr>
                        <a:t>Mitigation implemented</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50" b="1">
                          <a:solidFill>
                            <a:srgbClr val="FFFFFF"/>
                          </a:solidFill>
                          <a:latin typeface="Didact Gothic"/>
                        </a:rPr>
                        <a:t>Evidence / follow-up</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Payload loading</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Added mass affects flight behaviour</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Thrust evaluation; outdoor flights with a 2.5 kg dummy payload.</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Laboratory checks and mission-load simulation</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Electrical / thermal behaviour</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Excess current or overheating</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Current and thermal monitoring during laboratory propulsion checks.</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Lab test campaign completed</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Payload integration</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Interfaces or sensor readiness delay missions</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Coordination with USAL; progressive integration and multispectral-equipped flights.</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Multispectral flights completed; sensor results reported by USAL</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Outdoor deployment</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Field conditions affect platform operation</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Progressive controller tuning and repeated outdoor flight campaigns.</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Björkdal flights completed; detailed feedback pending</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5" name="Rounded Rectangle 4"/>
          <p:cNvSpPr/>
          <p:nvPr/>
        </p:nvSpPr>
        <p:spPr>
          <a:xfrm>
            <a:off x="768096" y="5605272"/>
            <a:ext cx="10652760" cy="438912"/>
          </a:xfrm>
          <a:prstGeom prst="roundRect">
            <a:avLst>
              <a:gd name="adj" fmla="val 6000"/>
            </a:avLst>
          </a:prstGeom>
          <a:solidFill>
            <a:srgbClr val="FB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5687568"/>
            <a:ext cx="10277856" cy="283464"/>
          </a:xfrm>
          <a:prstGeom prst="rect">
            <a:avLst/>
          </a:prstGeom>
          <a:noFill/>
        </p:spPr>
        <p:txBody>
          <a:bodyPr wrap="square" lIns="0" rIns="0" tIns="0" bIns="0" anchor="t">
            <a:spAutoFit/>
          </a:bodyPr>
          <a:lstStyle/>
          <a:p>
            <a:pPr algn="l">
              <a:lnSpc>
                <a:spcPct val="110000"/>
              </a:lnSpc>
              <a:spcAft>
                <a:spcPts val="400"/>
              </a:spcAft>
            </a:pPr>
            <a:r>
              <a:rPr sz="1600" b="0" spc="0">
                <a:solidFill>
                  <a:srgbClr val="D95427"/>
                </a:solidFill>
                <a:latin typeface="Didact Gothic"/>
              </a:rPr>
              <a:t>Add the confirmed Björkdal issues, fixes and residual limitations after the team debrief.</a:t>
            </a:r>
          </a:p>
        </p:txBody>
      </p:sp>
      <p:sp>
        <p:nvSpPr>
          <p:cNvPr id="7" name="TextBox 6"/>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8" name="TextBox 7"/>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6</a:t>
            </a:r>
          </a:p>
        </p:txBody>
      </p:sp>
      <p:sp>
        <p:nvSpPr>
          <p:cNvPr id="9" name="TextBox 8"/>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618E4677-5AE8-4222-AB18-02D2155C68AD}"/>
    </p:ext>
  </p:extLs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4315968" y="512064"/>
            <a:ext cx="731520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T5.1 – Next steps</a:t>
            </a:r>
          </a:p>
        </p:txBody>
      </p:sp>
      <p:sp>
        <p:nvSpPr>
          <p:cNvPr id="3" name="TextBox 2"/>
          <p:cNvSpPr txBox="1"/>
          <p:nvPr/>
        </p:nvSpPr>
        <p:spPr>
          <a:xfrm>
            <a:off x="4315968" y="1179576"/>
            <a:ext cx="731520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Before Christmas | pilot feedback and joint reporting</a:t>
            </a:r>
          </a:p>
        </p:txBody>
      </p:sp>
      <p:sp>
        <p:nvSpPr>
          <p:cNvPr id="4" name="TextBox 3"/>
          <p:cNvSpPr txBox="1"/>
          <p:nvPr/>
        </p:nvSpPr>
        <p:spPr>
          <a:xfrm>
            <a:off x="4325112" y="1956816"/>
            <a:ext cx="539496" cy="466344"/>
          </a:xfrm>
          <a:prstGeom prst="rect">
            <a:avLst/>
          </a:prstGeom>
          <a:noFill/>
        </p:spPr>
        <p:txBody>
          <a:bodyPr wrap="square" lIns="0" rIns="0" tIns="0" bIns="0" anchor="t">
            <a:spAutoFit/>
          </a:bodyPr>
          <a:lstStyle/>
          <a:p>
            <a:pPr algn="l">
              <a:lnSpc>
                <a:spcPct val="110000"/>
              </a:lnSpc>
              <a:spcAft>
                <a:spcPts val="400"/>
              </a:spcAft>
            </a:pPr>
            <a:r>
              <a:rPr sz="2700" b="1" spc="0">
                <a:solidFill>
                  <a:srgbClr val="5A8C3E"/>
                </a:solidFill>
                <a:latin typeface="Didact Gothic"/>
              </a:rPr>
              <a:t>01</a:t>
            </a:r>
          </a:p>
        </p:txBody>
      </p:sp>
      <p:sp>
        <p:nvSpPr>
          <p:cNvPr id="5" name="TextBox 4"/>
          <p:cNvSpPr txBox="1"/>
          <p:nvPr/>
        </p:nvSpPr>
        <p:spPr>
          <a:xfrm>
            <a:off x="5001768" y="1984248"/>
            <a:ext cx="6263640" cy="374904"/>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Align the reporting with USAL</a:t>
            </a:r>
          </a:p>
        </p:txBody>
      </p:sp>
      <p:sp>
        <p:nvSpPr>
          <p:cNvPr id="6" name="TextBox 5"/>
          <p:cNvSpPr txBox="1"/>
          <p:nvPr/>
        </p:nvSpPr>
        <p:spPr>
          <a:xfrm>
            <a:off x="5001768" y="2441448"/>
            <a:ext cx="6181344" cy="694944"/>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Connect ACCELIGENCE platform evidence with the sensor results and analysis reported by USAL.</a:t>
            </a:r>
          </a:p>
        </p:txBody>
      </p:sp>
      <p:sp>
        <p:nvSpPr>
          <p:cNvPr id="7" name="TextBox 6"/>
          <p:cNvSpPr txBox="1"/>
          <p:nvPr/>
        </p:nvSpPr>
        <p:spPr>
          <a:xfrm>
            <a:off x="4325112" y="3136392"/>
            <a:ext cx="539496" cy="466344"/>
          </a:xfrm>
          <a:prstGeom prst="rect">
            <a:avLst/>
          </a:prstGeom>
          <a:noFill/>
        </p:spPr>
        <p:txBody>
          <a:bodyPr wrap="square" lIns="0" rIns="0" tIns="0" bIns="0" anchor="t">
            <a:spAutoFit/>
          </a:bodyPr>
          <a:lstStyle/>
          <a:p>
            <a:pPr algn="l">
              <a:lnSpc>
                <a:spcPct val="110000"/>
              </a:lnSpc>
              <a:spcAft>
                <a:spcPts val="400"/>
              </a:spcAft>
            </a:pPr>
            <a:r>
              <a:rPr sz="2700" b="1" spc="0">
                <a:solidFill>
                  <a:srgbClr val="5A8C3E"/>
                </a:solidFill>
                <a:latin typeface="Didact Gothic"/>
              </a:rPr>
              <a:t>02</a:t>
            </a:r>
          </a:p>
        </p:txBody>
      </p:sp>
      <p:sp>
        <p:nvSpPr>
          <p:cNvPr id="8" name="TextBox 7"/>
          <p:cNvSpPr txBox="1"/>
          <p:nvPr/>
        </p:nvSpPr>
        <p:spPr>
          <a:xfrm>
            <a:off x="5001768" y="3163824"/>
            <a:ext cx="6263640" cy="374904"/>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Consolidate the pilot feedback</a:t>
            </a:r>
          </a:p>
        </p:txBody>
      </p:sp>
      <p:sp>
        <p:nvSpPr>
          <p:cNvPr id="9" name="TextBox 8"/>
          <p:cNvSpPr txBox="1"/>
          <p:nvPr/>
        </p:nvSpPr>
        <p:spPr>
          <a:xfrm>
            <a:off x="5001768" y="3621024"/>
            <a:ext cx="6181344" cy="694944"/>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Record platform findings, observed issues and mitigations after the flight-team debrief.</a:t>
            </a:r>
          </a:p>
        </p:txBody>
      </p:sp>
      <p:sp>
        <p:nvSpPr>
          <p:cNvPr id="10" name="TextBox 9"/>
          <p:cNvSpPr txBox="1"/>
          <p:nvPr/>
        </p:nvSpPr>
        <p:spPr>
          <a:xfrm>
            <a:off x="4325112" y="4315968"/>
            <a:ext cx="539496" cy="466344"/>
          </a:xfrm>
          <a:prstGeom prst="rect">
            <a:avLst/>
          </a:prstGeom>
          <a:noFill/>
        </p:spPr>
        <p:txBody>
          <a:bodyPr wrap="square" lIns="0" rIns="0" tIns="0" bIns="0" anchor="t">
            <a:spAutoFit/>
          </a:bodyPr>
          <a:lstStyle/>
          <a:p>
            <a:pPr algn="l">
              <a:lnSpc>
                <a:spcPct val="110000"/>
              </a:lnSpc>
              <a:spcAft>
                <a:spcPts val="400"/>
              </a:spcAft>
            </a:pPr>
            <a:r>
              <a:rPr sz="2700" b="1" spc="0">
                <a:solidFill>
                  <a:srgbClr val="5A8C3E"/>
                </a:solidFill>
                <a:latin typeface="Didact Gothic"/>
              </a:rPr>
              <a:t>03</a:t>
            </a:r>
          </a:p>
        </p:txBody>
      </p:sp>
      <p:sp>
        <p:nvSpPr>
          <p:cNvPr id="11" name="TextBox 10"/>
          <p:cNvSpPr txBox="1"/>
          <p:nvPr/>
        </p:nvSpPr>
        <p:spPr>
          <a:xfrm>
            <a:off x="5001768" y="4343400"/>
            <a:ext cx="6263640" cy="374904"/>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Prepare the platform evidence</a:t>
            </a:r>
          </a:p>
        </p:txBody>
      </p:sp>
      <p:sp>
        <p:nvSpPr>
          <p:cNvPr id="12" name="TextBox 11"/>
          <p:cNvSpPr txBox="1"/>
          <p:nvPr/>
        </p:nvSpPr>
        <p:spPr>
          <a:xfrm>
            <a:off x="5001768" y="4800600"/>
            <a:ext cx="6181344" cy="694944"/>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Compile configuration, testing and deployment evidence for WP5 reporting and the Final Review.</a:t>
            </a:r>
          </a:p>
        </p:txBody>
      </p:sp>
      <p:sp>
        <p:nvSpPr>
          <p:cNvPr id="13" name="Rounded Rectangle 12"/>
          <p:cNvSpPr/>
          <p:nvPr/>
        </p:nvSpPr>
        <p:spPr>
          <a:xfrm>
            <a:off x="4315968" y="5705856"/>
            <a:ext cx="704088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5779008"/>
            <a:ext cx="6675120" cy="310896"/>
          </a:xfrm>
          <a:prstGeom prst="rect">
            <a:avLst/>
          </a:prstGeom>
          <a:noFill/>
        </p:spPr>
        <p:txBody>
          <a:bodyPr wrap="square" lIns="0" rIns="0" tIns="0" bIns="0" anchor="t">
            <a:spAutoFit/>
          </a:bodyPr>
          <a:lstStyle/>
          <a:p>
            <a:pPr algn="l">
              <a:lnSpc>
                <a:spcPct val="110000"/>
              </a:lnSpc>
              <a:spcAft>
                <a:spcPts val="400"/>
              </a:spcAft>
            </a:pPr>
            <a:r>
              <a:rPr sz="1700" b="0" spc="0">
                <a:solidFill>
                  <a:srgbClr val="FFFFFF"/>
                </a:solidFill>
                <a:latin typeface="Didact Gothic"/>
              </a:rPr>
              <a:t>Outdoor platform completed; next steps concern feedback and reporting.</a:t>
            </a:r>
          </a:p>
        </p:txBody>
      </p:sp>
      <p:sp>
        <p:nvSpPr>
          <p:cNvPr id="15" name="TextBox 14"/>
          <p:cNvSpPr txBox="1"/>
          <p:nvPr/>
        </p:nvSpPr>
        <p:spPr>
          <a:xfrm>
            <a:off x="429768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6" name="TextBox 15"/>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7</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719D65EA-F554-4115-BD5A-3C4838EEFEE0}"/>
    </p:ext>
  </p:extLs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4315968" y="512064"/>
            <a:ext cx="731520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T5.1 – Final Review preparation</a:t>
            </a:r>
          </a:p>
        </p:txBody>
      </p:sp>
      <p:sp>
        <p:nvSpPr>
          <p:cNvPr id="3" name="TextBox 2"/>
          <p:cNvSpPr txBox="1"/>
          <p:nvPr/>
        </p:nvSpPr>
        <p:spPr>
          <a:xfrm>
            <a:off x="4315968" y="1179576"/>
            <a:ext cx="731520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Until the end of the project | platform evidence and partner alignment</a:t>
            </a:r>
          </a:p>
        </p:txBody>
      </p:sp>
      <p:sp>
        <p:nvSpPr>
          <p:cNvPr id="4" name="Rectangle 3"/>
          <p:cNvSpPr/>
          <p:nvPr/>
        </p:nvSpPr>
        <p:spPr>
          <a:xfrm>
            <a:off x="4325112" y="1920239"/>
            <a:ext cx="73152" cy="886968"/>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626864" y="1874519"/>
            <a:ext cx="6400800" cy="402336"/>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Completed outdoor UAV</a:t>
            </a:r>
          </a:p>
        </p:txBody>
      </p:sp>
      <p:sp>
        <p:nvSpPr>
          <p:cNvPr id="6" name="TextBox 5"/>
          <p:cNvSpPr txBox="1"/>
          <p:nvPr/>
        </p:nvSpPr>
        <p:spPr>
          <a:xfrm>
            <a:off x="4626864" y="2368296"/>
            <a:ext cx="6400800" cy="676656"/>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Record the final platform configuration, integration interfaces and operating setup.</a:t>
            </a:r>
          </a:p>
        </p:txBody>
      </p:sp>
      <p:sp>
        <p:nvSpPr>
          <p:cNvPr id="7" name="Rectangle 6"/>
          <p:cNvSpPr/>
          <p:nvPr/>
        </p:nvSpPr>
        <p:spPr>
          <a:xfrm>
            <a:off x="4325112" y="3072383"/>
            <a:ext cx="73152" cy="886968"/>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3026663"/>
            <a:ext cx="6400800" cy="402336"/>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Testing and deployment</a:t>
            </a:r>
          </a:p>
        </p:txBody>
      </p:sp>
      <p:sp>
        <p:nvSpPr>
          <p:cNvPr id="9" name="TextBox 8"/>
          <p:cNvSpPr txBox="1"/>
          <p:nvPr/>
        </p:nvSpPr>
        <p:spPr>
          <a:xfrm>
            <a:off x="4626864" y="3520439"/>
            <a:ext cx="6400800" cy="676656"/>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Link laboratory checks, dummy-payload tests, field campaigns and the Björkdal flights.</a:t>
            </a:r>
          </a:p>
        </p:txBody>
      </p:sp>
      <p:sp>
        <p:nvSpPr>
          <p:cNvPr id="10" name="Rectangle 9"/>
          <p:cNvSpPr/>
          <p:nvPr/>
        </p:nvSpPr>
        <p:spPr>
          <a:xfrm>
            <a:off x="4325112" y="4224528"/>
            <a:ext cx="73152" cy="886968"/>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4178808"/>
            <a:ext cx="6400800" cy="402336"/>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Joint WP5 story with USAL</a:t>
            </a:r>
          </a:p>
        </p:txBody>
      </p:sp>
      <p:sp>
        <p:nvSpPr>
          <p:cNvPr id="12" name="TextBox 11"/>
          <p:cNvSpPr txBox="1"/>
          <p:nvPr/>
        </p:nvSpPr>
        <p:spPr>
          <a:xfrm>
            <a:off x="4626864" y="4672584"/>
            <a:ext cx="6400800" cy="676656"/>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Connect drone provision to the sensor results presented by USAL; keep pilot detail in WP8.</a:t>
            </a:r>
          </a:p>
        </p:txBody>
      </p:sp>
      <p:sp>
        <p:nvSpPr>
          <p:cNvPr id="13" name="Rounded Rectangle 12"/>
          <p:cNvSpPr/>
          <p:nvPr/>
        </p:nvSpPr>
        <p:spPr>
          <a:xfrm>
            <a:off x="4315968" y="5705856"/>
            <a:ext cx="704088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5779008"/>
            <a:ext cx="6675120" cy="310896"/>
          </a:xfrm>
          <a:prstGeom prst="rect">
            <a:avLst/>
          </a:prstGeom>
          <a:noFill/>
        </p:spPr>
        <p:txBody>
          <a:bodyPr wrap="square" lIns="0" rIns="0" tIns="0" bIns="0" anchor="t">
            <a:spAutoFit/>
          </a:bodyPr>
          <a:lstStyle/>
          <a:p>
            <a:pPr algn="l">
              <a:lnSpc>
                <a:spcPct val="110000"/>
              </a:lnSpc>
              <a:spcAft>
                <a:spcPts val="400"/>
              </a:spcAft>
            </a:pPr>
            <a:r>
              <a:rPr sz="1700" b="0" spc="0">
                <a:solidFill>
                  <a:srgbClr val="FFFFFF"/>
                </a:solidFill>
                <a:latin typeface="Didact Gothic"/>
              </a:rPr>
              <a:t>ACCELIGENCE provides the drone; USAL presents the sensor results.</a:t>
            </a:r>
          </a:p>
        </p:txBody>
      </p:sp>
      <p:sp>
        <p:nvSpPr>
          <p:cNvPr id="15" name="TextBox 14"/>
          <p:cNvSpPr txBox="1"/>
          <p:nvPr/>
        </p:nvSpPr>
        <p:spPr>
          <a:xfrm>
            <a:off x="429768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6" name="TextBox 15"/>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8</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C9C056E9-C6D7-4ED9-862A-A1761D32A355}"/>
    </p:ext>
  </p:extLs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T5.1 – Outdoor platform evolution</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From completed assembly to field testing and the final mine demonstration</a:t>
            </a:r>
          </a:p>
        </p:txBody>
      </p:sp>
      <p:sp>
        <p:nvSpPr>
          <p:cNvPr id="4" name="Rounded Rectangle 3"/>
          <p:cNvSpPr/>
          <p:nvPr/>
        </p:nvSpPr>
        <p:spPr>
          <a:xfrm>
            <a:off x="768096" y="1874519"/>
            <a:ext cx="3374136" cy="3611880"/>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2039112"/>
            <a:ext cx="603504" cy="493776"/>
          </a:xfrm>
          <a:prstGeom prst="rect">
            <a:avLst/>
          </a:prstGeom>
          <a:noFill/>
        </p:spPr>
        <p:txBody>
          <a:bodyPr wrap="square" lIns="0" rIns="0" tIns="0" bIns="0" anchor="t">
            <a:spAutoFit/>
          </a:bodyPr>
          <a:lstStyle/>
          <a:p>
            <a:pPr algn="l">
              <a:lnSpc>
                <a:spcPct val="110000"/>
              </a:lnSpc>
              <a:spcAft>
                <a:spcPts val="400"/>
              </a:spcAft>
            </a:pPr>
            <a:r>
              <a:rPr sz="3100" b="1" spc="0">
                <a:solidFill>
                  <a:srgbClr val="5A8C3E"/>
                </a:solidFill>
                <a:latin typeface="Didact Gothic"/>
              </a:rPr>
              <a:t>01</a:t>
            </a:r>
          </a:p>
        </p:txBody>
      </p:sp>
      <p:sp>
        <p:nvSpPr>
          <p:cNvPr id="6" name="TextBox 5"/>
          <p:cNvSpPr txBox="1"/>
          <p:nvPr/>
        </p:nvSpPr>
        <p:spPr>
          <a:xfrm>
            <a:off x="969264" y="2724912"/>
            <a:ext cx="2990088" cy="384048"/>
          </a:xfrm>
          <a:prstGeom prst="rect">
            <a:avLst/>
          </a:prstGeom>
          <a:noFill/>
        </p:spPr>
        <p:txBody>
          <a:bodyPr wrap="square" lIns="0" rIns="0" tIns="0" bIns="0" anchor="t">
            <a:spAutoFit/>
          </a:bodyPr>
          <a:lstStyle/>
          <a:p>
            <a:pPr algn="l">
              <a:lnSpc>
                <a:spcPct val="110000"/>
              </a:lnSpc>
              <a:spcAft>
                <a:spcPts val="400"/>
              </a:spcAft>
            </a:pPr>
            <a:r>
              <a:rPr sz="1400" b="0" spc="0">
                <a:solidFill>
                  <a:srgbClr val="52616C"/>
                </a:solidFill>
                <a:latin typeface="Didact Gothic"/>
              </a:rPr>
              <a:t>June 2026</a:t>
            </a:r>
          </a:p>
        </p:txBody>
      </p:sp>
      <p:sp>
        <p:nvSpPr>
          <p:cNvPr id="7" name="TextBox 6"/>
          <p:cNvSpPr txBox="1"/>
          <p:nvPr/>
        </p:nvSpPr>
        <p:spPr>
          <a:xfrm>
            <a:off x="969264" y="3236976"/>
            <a:ext cx="2990088" cy="475488"/>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Assembly &amp; lab checks</a:t>
            </a:r>
          </a:p>
        </p:txBody>
      </p:sp>
      <p:sp>
        <p:nvSpPr>
          <p:cNvPr id="8" name="TextBox 7"/>
          <p:cNvSpPr txBox="1"/>
          <p:nvPr/>
        </p:nvSpPr>
        <p:spPr>
          <a:xfrm>
            <a:off x="969264" y="369417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Frame and systems assembled</a:t>
            </a:r>
          </a:p>
        </p:txBody>
      </p:sp>
      <p:sp>
        <p:nvSpPr>
          <p:cNvPr id="9" name="TextBox 8"/>
          <p:cNvSpPr txBox="1"/>
          <p:nvPr/>
        </p:nvSpPr>
        <p:spPr>
          <a:xfrm>
            <a:off x="969264" y="424281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Power and avionics integrated</a:t>
            </a:r>
          </a:p>
        </p:txBody>
      </p:sp>
      <p:sp>
        <p:nvSpPr>
          <p:cNvPr id="10" name="TextBox 9"/>
          <p:cNvSpPr txBox="1"/>
          <p:nvPr/>
        </p:nvSpPr>
        <p:spPr>
          <a:xfrm>
            <a:off x="969264" y="479145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Lab and initial flight tests</a:t>
            </a:r>
          </a:p>
        </p:txBody>
      </p:sp>
      <p:sp>
        <p:nvSpPr>
          <p:cNvPr id="11" name="TextBox 10"/>
          <p:cNvSpPr txBox="1"/>
          <p:nvPr/>
        </p:nvSpPr>
        <p:spPr>
          <a:xfrm>
            <a:off x="4187952" y="3054096"/>
            <a:ext cx="274320" cy="475488"/>
          </a:xfrm>
          <a:prstGeom prst="rect">
            <a:avLst/>
          </a:prstGeom>
          <a:noFill/>
        </p:spPr>
        <p:txBody>
          <a:bodyPr wrap="square" lIns="0" rIns="0" tIns="0" bIns="0" anchor="t">
            <a:spAutoFit/>
          </a:bodyPr>
          <a:lstStyle/>
          <a:p>
            <a:pPr algn="l">
              <a:lnSpc>
                <a:spcPct val="110000"/>
              </a:lnSpc>
              <a:spcAft>
                <a:spcPts val="400"/>
              </a:spcAft>
            </a:pPr>
            <a:r>
              <a:rPr sz="2900" b="1" spc="0">
                <a:solidFill>
                  <a:srgbClr val="5A8C3E"/>
                </a:solidFill>
                <a:latin typeface="Didact Gothic"/>
              </a:rPr>
              <a:t>›</a:t>
            </a:r>
          </a:p>
        </p:txBody>
      </p:sp>
      <p:sp>
        <p:nvSpPr>
          <p:cNvPr id="12" name="Rounded Rectangle 11"/>
          <p:cNvSpPr/>
          <p:nvPr/>
        </p:nvSpPr>
        <p:spPr>
          <a:xfrm>
            <a:off x="4434840" y="1874519"/>
            <a:ext cx="3374136" cy="3611880"/>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039112"/>
            <a:ext cx="603504" cy="493776"/>
          </a:xfrm>
          <a:prstGeom prst="rect">
            <a:avLst/>
          </a:prstGeom>
          <a:noFill/>
        </p:spPr>
        <p:txBody>
          <a:bodyPr wrap="square" lIns="0" rIns="0" tIns="0" bIns="0" anchor="t">
            <a:spAutoFit/>
          </a:bodyPr>
          <a:lstStyle/>
          <a:p>
            <a:pPr algn="l">
              <a:lnSpc>
                <a:spcPct val="110000"/>
              </a:lnSpc>
              <a:spcAft>
                <a:spcPts val="400"/>
              </a:spcAft>
            </a:pPr>
            <a:r>
              <a:rPr sz="3100" b="1" spc="0">
                <a:solidFill>
                  <a:srgbClr val="5A8C3E"/>
                </a:solidFill>
                <a:latin typeface="Didact Gothic"/>
              </a:rPr>
              <a:t>02</a:t>
            </a:r>
          </a:p>
        </p:txBody>
      </p:sp>
      <p:sp>
        <p:nvSpPr>
          <p:cNvPr id="14" name="TextBox 13"/>
          <p:cNvSpPr txBox="1"/>
          <p:nvPr/>
        </p:nvSpPr>
        <p:spPr>
          <a:xfrm>
            <a:off x="4636007" y="2724912"/>
            <a:ext cx="2990088" cy="384048"/>
          </a:xfrm>
          <a:prstGeom prst="rect">
            <a:avLst/>
          </a:prstGeom>
          <a:noFill/>
        </p:spPr>
        <p:txBody>
          <a:bodyPr wrap="square" lIns="0" rIns="0" tIns="0" bIns="0" anchor="t">
            <a:spAutoFit/>
          </a:bodyPr>
          <a:lstStyle/>
          <a:p>
            <a:pPr algn="l">
              <a:lnSpc>
                <a:spcPct val="110000"/>
              </a:lnSpc>
              <a:spcAft>
                <a:spcPts val="400"/>
              </a:spcAft>
            </a:pPr>
            <a:r>
              <a:rPr sz="1400" b="0" spc="0">
                <a:solidFill>
                  <a:srgbClr val="52616C"/>
                </a:solidFill>
                <a:latin typeface="Didact Gothic"/>
              </a:rPr>
              <a:t>September 2026</a:t>
            </a:r>
          </a:p>
        </p:txBody>
      </p:sp>
      <p:sp>
        <p:nvSpPr>
          <p:cNvPr id="15" name="TextBox 14"/>
          <p:cNvSpPr txBox="1"/>
          <p:nvPr/>
        </p:nvSpPr>
        <p:spPr>
          <a:xfrm>
            <a:off x="4636007" y="3236976"/>
            <a:ext cx="2990088" cy="475488"/>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Field-tested platform</a:t>
            </a:r>
          </a:p>
        </p:txBody>
      </p:sp>
      <p:sp>
        <p:nvSpPr>
          <p:cNvPr id="16" name="TextBox 15"/>
          <p:cNvSpPr txBox="1"/>
          <p:nvPr/>
        </p:nvSpPr>
        <p:spPr>
          <a:xfrm>
            <a:off x="4636007" y="369417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Outdoor configuration finalised</a:t>
            </a:r>
          </a:p>
        </p:txBody>
      </p:sp>
      <p:sp>
        <p:nvSpPr>
          <p:cNvPr id="17" name="TextBox 16"/>
          <p:cNvSpPr txBox="1"/>
          <p:nvPr/>
        </p:nvSpPr>
        <p:spPr>
          <a:xfrm>
            <a:off x="4636007" y="424281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Multiple field-test campaigns</a:t>
            </a:r>
          </a:p>
        </p:txBody>
      </p:sp>
      <p:sp>
        <p:nvSpPr>
          <p:cNvPr id="18" name="TextBox 17"/>
          <p:cNvSpPr txBox="1"/>
          <p:nvPr/>
        </p:nvSpPr>
        <p:spPr>
          <a:xfrm>
            <a:off x="4636007" y="479145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Flights with multispectral camera</a:t>
            </a:r>
          </a:p>
        </p:txBody>
      </p:sp>
      <p:sp>
        <p:nvSpPr>
          <p:cNvPr id="19" name="TextBox 18"/>
          <p:cNvSpPr txBox="1"/>
          <p:nvPr/>
        </p:nvSpPr>
        <p:spPr>
          <a:xfrm>
            <a:off x="7854696" y="3054096"/>
            <a:ext cx="274320" cy="475488"/>
          </a:xfrm>
          <a:prstGeom prst="rect">
            <a:avLst/>
          </a:prstGeom>
          <a:noFill/>
        </p:spPr>
        <p:txBody>
          <a:bodyPr wrap="square" lIns="0" rIns="0" tIns="0" bIns="0" anchor="t">
            <a:spAutoFit/>
          </a:bodyPr>
          <a:lstStyle/>
          <a:p>
            <a:pPr algn="l">
              <a:lnSpc>
                <a:spcPct val="110000"/>
              </a:lnSpc>
              <a:spcAft>
                <a:spcPts val="400"/>
              </a:spcAft>
            </a:pPr>
            <a:r>
              <a:rPr sz="2900" b="1" spc="0">
                <a:solidFill>
                  <a:srgbClr val="5A8C3E"/>
                </a:solidFill>
                <a:latin typeface="Didact Gothic"/>
              </a:rPr>
              <a:t>›</a:t>
            </a:r>
          </a:p>
        </p:txBody>
      </p:sp>
      <p:sp>
        <p:nvSpPr>
          <p:cNvPr id="20" name="Rounded Rectangle 19"/>
          <p:cNvSpPr/>
          <p:nvPr/>
        </p:nvSpPr>
        <p:spPr>
          <a:xfrm>
            <a:off x="8101583" y="1874519"/>
            <a:ext cx="3374136" cy="3611880"/>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2039112"/>
            <a:ext cx="603504" cy="493776"/>
          </a:xfrm>
          <a:prstGeom prst="rect">
            <a:avLst/>
          </a:prstGeom>
          <a:noFill/>
        </p:spPr>
        <p:txBody>
          <a:bodyPr wrap="square" lIns="0" rIns="0" tIns="0" bIns="0" anchor="t">
            <a:spAutoFit/>
          </a:bodyPr>
          <a:lstStyle/>
          <a:p>
            <a:pPr algn="l">
              <a:lnSpc>
                <a:spcPct val="110000"/>
              </a:lnSpc>
              <a:spcAft>
                <a:spcPts val="400"/>
              </a:spcAft>
            </a:pPr>
            <a:r>
              <a:rPr sz="3100" b="1" spc="0">
                <a:solidFill>
                  <a:srgbClr val="5A8C3E"/>
                </a:solidFill>
                <a:latin typeface="Didact Gothic"/>
              </a:rPr>
              <a:t>03</a:t>
            </a:r>
          </a:p>
        </p:txBody>
      </p:sp>
      <p:sp>
        <p:nvSpPr>
          <p:cNvPr id="22" name="TextBox 21"/>
          <p:cNvSpPr txBox="1"/>
          <p:nvPr/>
        </p:nvSpPr>
        <p:spPr>
          <a:xfrm>
            <a:off x="8302752" y="2724912"/>
            <a:ext cx="2990088" cy="384048"/>
          </a:xfrm>
          <a:prstGeom prst="rect">
            <a:avLst/>
          </a:prstGeom>
          <a:noFill/>
        </p:spPr>
        <p:txBody>
          <a:bodyPr wrap="square" lIns="0" rIns="0" tIns="0" bIns="0" anchor="t">
            <a:spAutoFit/>
          </a:bodyPr>
          <a:lstStyle/>
          <a:p>
            <a:pPr algn="l">
              <a:lnSpc>
                <a:spcPct val="110000"/>
              </a:lnSpc>
              <a:spcAft>
                <a:spcPts val="400"/>
              </a:spcAft>
            </a:pPr>
            <a:r>
              <a:rPr sz="1400" b="0" spc="0">
                <a:solidFill>
                  <a:srgbClr val="52616C"/>
                </a:solidFill>
                <a:latin typeface="Didact Gothic"/>
              </a:rPr>
              <a:t>Final Björkdal pilot</a:t>
            </a:r>
          </a:p>
        </p:txBody>
      </p:sp>
      <p:sp>
        <p:nvSpPr>
          <p:cNvPr id="23" name="TextBox 22"/>
          <p:cNvSpPr txBox="1"/>
          <p:nvPr/>
        </p:nvSpPr>
        <p:spPr>
          <a:xfrm>
            <a:off x="8302752" y="3236976"/>
            <a:ext cx="2990088" cy="475488"/>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Mine demonstration</a:t>
            </a:r>
          </a:p>
        </p:txBody>
      </p:sp>
      <p:sp>
        <p:nvSpPr>
          <p:cNvPr id="24" name="TextBox 23"/>
          <p:cNvSpPr txBox="1"/>
          <p:nvPr/>
        </p:nvSpPr>
        <p:spPr>
          <a:xfrm>
            <a:off x="8302752" y="369417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Outdoor flights performed</a:t>
            </a:r>
          </a:p>
        </p:txBody>
      </p:sp>
      <p:sp>
        <p:nvSpPr>
          <p:cNvPr id="25" name="TextBox 24"/>
          <p:cNvSpPr txBox="1"/>
          <p:nvPr/>
        </p:nvSpPr>
        <p:spPr>
          <a:xfrm>
            <a:off x="8302752" y="424281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Multispectral camera onboard</a:t>
            </a:r>
          </a:p>
        </p:txBody>
      </p:sp>
      <p:sp>
        <p:nvSpPr>
          <p:cNvPr id="26" name="TextBox 25"/>
          <p:cNvSpPr txBox="1"/>
          <p:nvPr/>
        </p:nvSpPr>
        <p:spPr>
          <a:xfrm>
            <a:off x="8302752" y="479145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Detailed findings: USAL / WP8</a:t>
            </a:r>
          </a:p>
        </p:txBody>
      </p:sp>
      <p:sp>
        <p:nvSpPr>
          <p:cNvPr id="27" name="Rounded Rectangle 26"/>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Outdoor UAV platform completed, field-tested and deployed in the final pilot.</a:t>
            </a:r>
          </a:p>
        </p:txBody>
      </p:sp>
      <p:sp>
        <p:nvSpPr>
          <p:cNvPr id="29" name="TextBox 28"/>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30" name="TextBox 29"/>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2</a:t>
            </a:r>
          </a:p>
        </p:txBody>
      </p:sp>
      <p:sp>
        <p:nvSpPr>
          <p:cNvPr id="31" name="TextBox 30"/>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DEFF536A-EB53-49FC-8097-3FA62AC46C9F}"/>
    </p:ext>
  </p:extLs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T5.1 – Outdoor configuration completed</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ACCELIGENCE provides the UAV platform for the joint sensing missions</a:t>
            </a:r>
          </a:p>
        </p:txBody>
      </p:sp>
      <p:pic>
        <p:nvPicPr>
          <p:cNvPr id="4" name="Picture 3" descr="wp5_prior_s2_9.jpg"/>
          <p:cNvPicPr>
            <a:picLocks noChangeAspect="1"/>
          </p:cNvPicPr>
          <p:nvPr/>
        </p:nvPicPr>
        <p:blipFill>
          <a:blip r:embed="rId1"/>
          <a:stretch>
            <a:fillRect/>
          </a:stretch>
        </p:blipFill>
        <p:spPr>
          <a:xfrm>
            <a:off x="1268446" y="1773936"/>
            <a:ext cx="3900482" cy="3602736"/>
          </a:xfrm>
          <a:prstGeom prst="rect">
            <a:avLst/>
          </a:prstGeom>
        </p:spPr>
      </p:pic>
      <p:sp>
        <p:nvSpPr>
          <p:cNvPr id="5" name="TextBox 4"/>
          <p:cNvSpPr txBox="1"/>
          <p:nvPr/>
        </p:nvSpPr>
        <p:spPr>
          <a:xfrm>
            <a:off x="841248" y="5385816"/>
            <a:ext cx="4754880" cy="274320"/>
          </a:xfrm>
          <a:prstGeom prst="rect">
            <a:avLst/>
          </a:prstGeom>
          <a:noFill/>
        </p:spPr>
        <p:txBody>
          <a:bodyPr wrap="square" lIns="0" rIns="0" tIns="0" bIns="0" anchor="t">
            <a:spAutoFit/>
          </a:bodyPr>
          <a:lstStyle/>
          <a:p>
            <a:pPr algn="ctr">
              <a:lnSpc>
                <a:spcPct val="110000"/>
              </a:lnSpc>
              <a:spcAft>
                <a:spcPts val="400"/>
              </a:spcAft>
            </a:pPr>
            <a:r>
              <a:rPr sz="1300" b="0" spc="0">
                <a:solidFill>
                  <a:srgbClr val="52616C"/>
                </a:solidFill>
                <a:latin typeface="Didact Gothic"/>
              </a:rPr>
              <a:t>Outdoor UAV assembly • previous GA</a:t>
            </a:r>
          </a:p>
        </p:txBody>
      </p:sp>
      <p:sp>
        <p:nvSpPr>
          <p:cNvPr id="6" name="Rectangle 5"/>
          <p:cNvSpPr/>
          <p:nvPr/>
        </p:nvSpPr>
        <p:spPr>
          <a:xfrm>
            <a:off x="6099048" y="1892807"/>
            <a:ext cx="64008" cy="896112"/>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856231"/>
            <a:ext cx="5010912" cy="402336"/>
          </a:xfrm>
          <a:prstGeom prst="rect">
            <a:avLst/>
          </a:prstGeom>
          <a:noFill/>
        </p:spPr>
        <p:txBody>
          <a:bodyPr wrap="square" lIns="0" rIns="0" tIns="0" bIns="0" anchor="t">
            <a:spAutoFit/>
          </a:bodyPr>
          <a:lstStyle/>
          <a:p>
            <a:pPr algn="l">
              <a:lnSpc>
                <a:spcPct val="110000"/>
              </a:lnSpc>
              <a:spcAft>
                <a:spcPts val="400"/>
              </a:spcAft>
            </a:pPr>
            <a:r>
              <a:rPr sz="2300" b="1" spc="0">
                <a:solidFill>
                  <a:srgbClr val="162C40"/>
                </a:solidFill>
                <a:latin typeface="Didact Gothic"/>
              </a:rPr>
              <a:t>Structure &amp; manufacturing</a:t>
            </a:r>
          </a:p>
        </p:txBody>
      </p:sp>
      <p:sp>
        <p:nvSpPr>
          <p:cNvPr id="8" name="TextBox 7"/>
          <p:cNvSpPr txBox="1"/>
          <p:nvPr/>
        </p:nvSpPr>
        <p:spPr>
          <a:xfrm>
            <a:off x="6355080" y="2359152"/>
            <a:ext cx="4937760" cy="704088"/>
          </a:xfrm>
          <a:prstGeom prst="rect">
            <a:avLst/>
          </a:prstGeom>
          <a:noFill/>
        </p:spPr>
        <p:txBody>
          <a:bodyPr wrap="square" lIns="0" rIns="0" tIns="0" bIns="0" anchor="t">
            <a:spAutoFit/>
          </a:bodyPr>
          <a:lstStyle/>
          <a:p>
            <a:pPr algn="l">
              <a:lnSpc>
                <a:spcPct val="110000"/>
              </a:lnSpc>
              <a:spcAft>
                <a:spcPts val="400"/>
              </a:spcAft>
            </a:pPr>
            <a:r>
              <a:rPr sz="1900" b="0" spc="0">
                <a:solidFill>
                  <a:srgbClr val="162C40"/>
                </a:solidFill>
                <a:latin typeface="Didact Gothic"/>
              </a:rPr>
              <a:t>Mechanical layout completed; frame manufactured and assembled.</a:t>
            </a:r>
          </a:p>
        </p:txBody>
      </p:sp>
      <p:sp>
        <p:nvSpPr>
          <p:cNvPr id="9" name="Rectangle 8"/>
          <p:cNvSpPr/>
          <p:nvPr/>
        </p:nvSpPr>
        <p:spPr>
          <a:xfrm>
            <a:off x="6099048" y="3099815"/>
            <a:ext cx="64008" cy="896112"/>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063239"/>
            <a:ext cx="5010912" cy="402336"/>
          </a:xfrm>
          <a:prstGeom prst="rect">
            <a:avLst/>
          </a:prstGeom>
          <a:noFill/>
        </p:spPr>
        <p:txBody>
          <a:bodyPr wrap="square" lIns="0" rIns="0" tIns="0" bIns="0" anchor="t">
            <a:spAutoFit/>
          </a:bodyPr>
          <a:lstStyle/>
          <a:p>
            <a:pPr algn="l">
              <a:lnSpc>
                <a:spcPct val="110000"/>
              </a:lnSpc>
              <a:spcAft>
                <a:spcPts val="400"/>
              </a:spcAft>
            </a:pPr>
            <a:r>
              <a:rPr sz="2300" b="1" spc="0">
                <a:solidFill>
                  <a:srgbClr val="162C40"/>
                </a:solidFill>
                <a:latin typeface="Didact Gothic"/>
              </a:rPr>
              <a:t>Integrated flight systems</a:t>
            </a:r>
          </a:p>
        </p:txBody>
      </p:sp>
      <p:sp>
        <p:nvSpPr>
          <p:cNvPr id="11" name="TextBox 10"/>
          <p:cNvSpPr txBox="1"/>
          <p:nvPr/>
        </p:nvSpPr>
        <p:spPr>
          <a:xfrm>
            <a:off x="6355080" y="3566159"/>
            <a:ext cx="4937760" cy="704088"/>
          </a:xfrm>
          <a:prstGeom prst="rect">
            <a:avLst/>
          </a:prstGeom>
          <a:noFill/>
        </p:spPr>
        <p:txBody>
          <a:bodyPr wrap="square" lIns="0" rIns="0" tIns="0" bIns="0" anchor="t">
            <a:spAutoFit/>
          </a:bodyPr>
          <a:lstStyle/>
          <a:p>
            <a:pPr algn="l">
              <a:lnSpc>
                <a:spcPct val="110000"/>
              </a:lnSpc>
              <a:spcAft>
                <a:spcPts val="400"/>
              </a:spcAft>
            </a:pPr>
            <a:r>
              <a:rPr sz="1900" b="0" spc="0">
                <a:solidFill>
                  <a:srgbClr val="162C40"/>
                </a:solidFill>
                <a:latin typeface="Didact Gothic"/>
              </a:rPr>
              <a:t>Propulsion, power distribution, communications and flight control integrated.</a:t>
            </a:r>
          </a:p>
        </p:txBody>
      </p:sp>
      <p:sp>
        <p:nvSpPr>
          <p:cNvPr id="12" name="Rectangle 11"/>
          <p:cNvSpPr/>
          <p:nvPr/>
        </p:nvSpPr>
        <p:spPr>
          <a:xfrm>
            <a:off x="6099048" y="4306824"/>
            <a:ext cx="64008" cy="896112"/>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270248"/>
            <a:ext cx="5010912" cy="402336"/>
          </a:xfrm>
          <a:prstGeom prst="rect">
            <a:avLst/>
          </a:prstGeom>
          <a:noFill/>
        </p:spPr>
        <p:txBody>
          <a:bodyPr wrap="square" lIns="0" rIns="0" tIns="0" bIns="0" anchor="t">
            <a:spAutoFit/>
          </a:bodyPr>
          <a:lstStyle/>
          <a:p>
            <a:pPr algn="l">
              <a:lnSpc>
                <a:spcPct val="110000"/>
              </a:lnSpc>
              <a:spcAft>
                <a:spcPts val="400"/>
              </a:spcAft>
            </a:pPr>
            <a:r>
              <a:rPr sz="2300" b="1" spc="0">
                <a:solidFill>
                  <a:srgbClr val="162C40"/>
                </a:solidFill>
                <a:latin typeface="Didact Gothic"/>
              </a:rPr>
              <a:t>Mission payload support</a:t>
            </a:r>
          </a:p>
        </p:txBody>
      </p:sp>
      <p:sp>
        <p:nvSpPr>
          <p:cNvPr id="14" name="TextBox 13"/>
          <p:cNvSpPr txBox="1"/>
          <p:nvPr/>
        </p:nvSpPr>
        <p:spPr>
          <a:xfrm>
            <a:off x="6355080" y="4773168"/>
            <a:ext cx="4937760" cy="704088"/>
          </a:xfrm>
          <a:prstGeom prst="rect">
            <a:avLst/>
          </a:prstGeom>
          <a:noFill/>
        </p:spPr>
        <p:txBody>
          <a:bodyPr wrap="square" lIns="0" rIns="0" tIns="0" bIns="0" anchor="t">
            <a:spAutoFit/>
          </a:bodyPr>
          <a:lstStyle/>
          <a:p>
            <a:pPr algn="l">
              <a:lnSpc>
                <a:spcPct val="110000"/>
              </a:lnSpc>
              <a:spcAft>
                <a:spcPts val="400"/>
              </a:spcAft>
            </a:pPr>
            <a:r>
              <a:rPr sz="1900" b="0" spc="0">
                <a:solidFill>
                  <a:srgbClr val="162C40"/>
                </a:solidFill>
                <a:latin typeface="Didact Gothic"/>
              </a:rPr>
              <a:t>Platform prepared for payload integration; multispectral-equipped flights completed.</a:t>
            </a:r>
          </a:p>
        </p:txBody>
      </p:sp>
      <p:sp>
        <p:nvSpPr>
          <p:cNvPr id="15" name="Rounded Rectangle 14"/>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Completed contribution: outdoor UAV design, manufacturing, assembly and flight capability.</a:t>
            </a:r>
          </a:p>
        </p:txBody>
      </p:sp>
      <p:sp>
        <p:nvSpPr>
          <p:cNvPr id="17" name="TextBox 16"/>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8" name="TextBox 17"/>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3</a:t>
            </a:r>
          </a:p>
        </p:txBody>
      </p:sp>
      <p:sp>
        <p:nvSpPr>
          <p:cNvPr id="19" name="TextBox 18"/>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41CB75EB-17AE-40F7-A0F5-3A2E7133B8B4}"/>
    </p:ext>
  </p:extLs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T5.1 – Platform testing and validation</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Laboratory checks, progressive outdoor flights and mission-load simulation</a:t>
            </a:r>
          </a:p>
        </p:txBody>
      </p:sp>
      <p:sp>
        <p:nvSpPr>
          <p:cNvPr id="4" name="Rounded Rectangle 3"/>
          <p:cNvSpPr/>
          <p:nvPr/>
        </p:nvSpPr>
        <p:spPr>
          <a:xfrm>
            <a:off x="768096" y="1810512"/>
            <a:ext cx="3374136" cy="3685032"/>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2002536"/>
            <a:ext cx="2971800" cy="402336"/>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Laboratory checks</a:t>
            </a:r>
          </a:p>
        </p:txBody>
      </p:sp>
      <p:pic>
        <p:nvPicPr>
          <p:cNvPr id="6" name="Picture 5" descr="wp5_prior_s2_8.jpg"/>
          <p:cNvPicPr>
            <a:picLocks noChangeAspect="1"/>
          </p:cNvPicPr>
          <p:nvPr/>
        </p:nvPicPr>
        <p:blipFill>
          <a:blip r:embed="rId1"/>
          <a:stretch>
            <a:fillRect/>
          </a:stretch>
        </p:blipFill>
        <p:spPr>
          <a:xfrm rot="5400000">
            <a:off x="1362456" y="2551176"/>
            <a:ext cx="2185416" cy="2185416"/>
          </a:xfrm>
          <a:prstGeom prst="rect">
            <a:avLst/>
          </a:prstGeom>
        </p:spPr>
      </p:pic>
      <p:sp>
        <p:nvSpPr>
          <p:cNvPr id="7" name="TextBox 6"/>
          <p:cNvSpPr txBox="1"/>
          <p:nvPr/>
        </p:nvSpPr>
        <p:spPr>
          <a:xfrm>
            <a:off x="969264" y="4919472"/>
            <a:ext cx="2971800" cy="557784"/>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Thrust, current and</a:t>
            </a:r>
          </a:p>
          <a:p>
            <a:pPr algn="l">
              <a:lnSpc>
                <a:spcPct val="110000"/>
              </a:lnSpc>
              <a:spcAft>
                <a:spcPts val="400"/>
              </a:spcAft>
            </a:pPr>
            <a:r>
              <a:rPr sz="1600" b="0" spc="0">
                <a:solidFill>
                  <a:srgbClr val="162C40"/>
                </a:solidFill>
                <a:latin typeface="Didact Gothic"/>
              </a:rPr>
              <a:t>thermal behaviour checks.</a:t>
            </a:r>
          </a:p>
        </p:txBody>
      </p:sp>
      <p:sp>
        <p:nvSpPr>
          <p:cNvPr id="8" name="Rounded Rectangle 7"/>
          <p:cNvSpPr/>
          <p:nvPr/>
        </p:nvSpPr>
        <p:spPr>
          <a:xfrm>
            <a:off x="4434840" y="1810512"/>
            <a:ext cx="3374136" cy="3685032"/>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7" y="2002536"/>
            <a:ext cx="2971800" cy="402336"/>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Outdoor flight tests</a:t>
            </a:r>
          </a:p>
        </p:txBody>
      </p:sp>
      <p:pic>
        <p:nvPicPr>
          <p:cNvPr id="10" name="Picture 9" descr="wp5_prior_s3_8.png"/>
          <p:cNvPicPr>
            <a:picLocks noChangeAspect="1"/>
          </p:cNvPicPr>
          <p:nvPr/>
        </p:nvPicPr>
        <p:blipFill>
          <a:blip r:embed="rId3"/>
          <a:stretch>
            <a:fillRect/>
          </a:stretch>
        </p:blipFill>
        <p:spPr>
          <a:xfrm>
            <a:off x="4801083" y="2551176"/>
            <a:ext cx="2641649" cy="2185416"/>
          </a:xfrm>
          <a:prstGeom prst="rect">
            <a:avLst/>
          </a:prstGeom>
        </p:spPr>
      </p:pic>
      <p:sp>
        <p:nvSpPr>
          <p:cNvPr id="11" name="TextBox 10"/>
          <p:cNvSpPr txBox="1"/>
          <p:nvPr/>
        </p:nvSpPr>
        <p:spPr>
          <a:xfrm>
            <a:off x="4636007" y="4919472"/>
            <a:ext cx="2971800" cy="557784"/>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Controller and propulsion</a:t>
            </a:r>
          </a:p>
          <a:p>
            <a:pPr algn="l">
              <a:lnSpc>
                <a:spcPct val="110000"/>
              </a:lnSpc>
              <a:spcAft>
                <a:spcPts val="400"/>
              </a:spcAft>
            </a:pPr>
            <a:r>
              <a:rPr sz="1600" b="0" spc="0">
                <a:solidFill>
                  <a:srgbClr val="162C40"/>
                </a:solidFill>
                <a:latin typeface="Didact Gothic"/>
              </a:rPr>
              <a:t>tuning in outdoor flights.</a:t>
            </a:r>
          </a:p>
        </p:txBody>
      </p:sp>
      <p:sp>
        <p:nvSpPr>
          <p:cNvPr id="12" name="Rounded Rectangle 11"/>
          <p:cNvSpPr/>
          <p:nvPr/>
        </p:nvSpPr>
        <p:spPr>
          <a:xfrm>
            <a:off x="8101583" y="1810512"/>
            <a:ext cx="3374136" cy="3685032"/>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2002536"/>
            <a:ext cx="2971800" cy="402336"/>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Payload simulation</a:t>
            </a:r>
          </a:p>
        </p:txBody>
      </p:sp>
      <p:pic>
        <p:nvPicPr>
          <p:cNvPr id="14" name="Picture 13" descr="wp5_prior_s3_9.png"/>
          <p:cNvPicPr>
            <a:picLocks noChangeAspect="1"/>
          </p:cNvPicPr>
          <p:nvPr/>
        </p:nvPicPr>
        <p:blipFill>
          <a:blip r:embed="rId4"/>
          <a:stretch>
            <a:fillRect/>
          </a:stretch>
        </p:blipFill>
        <p:spPr>
          <a:xfrm>
            <a:off x="8309728" y="2551176"/>
            <a:ext cx="2957847" cy="2185416"/>
          </a:xfrm>
          <a:prstGeom prst="rect">
            <a:avLst/>
          </a:prstGeom>
        </p:spPr>
      </p:pic>
      <p:sp>
        <p:nvSpPr>
          <p:cNvPr id="15" name="TextBox 14"/>
          <p:cNvSpPr txBox="1"/>
          <p:nvPr/>
        </p:nvSpPr>
        <p:spPr>
          <a:xfrm>
            <a:off x="8302752" y="4919472"/>
            <a:ext cx="2971800" cy="557784"/>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2.5 kg dummy payload</a:t>
            </a:r>
          </a:p>
          <a:p>
            <a:pPr algn="l">
              <a:lnSpc>
                <a:spcPct val="110000"/>
              </a:lnSpc>
              <a:spcAft>
                <a:spcPts val="400"/>
              </a:spcAft>
            </a:pPr>
            <a:r>
              <a:rPr sz="1600" b="0" spc="0">
                <a:solidFill>
                  <a:srgbClr val="162C40"/>
                </a:solidFill>
                <a:latin typeface="Didact Gothic"/>
              </a:rPr>
              <a:t>for mission-load simulation.</a:t>
            </a:r>
          </a:p>
        </p:txBody>
      </p:sp>
      <p:sp>
        <p:nvSpPr>
          <p:cNvPr id="16" name="Rounded Rectangle 15"/>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The test programme supported platform readiness for the joint USAL missions.</a:t>
            </a:r>
          </a:p>
        </p:txBody>
      </p:sp>
      <p:sp>
        <p:nvSpPr>
          <p:cNvPr id="18" name="TextBox 17"/>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9" name="TextBox 18"/>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4</a:t>
            </a:r>
          </a:p>
        </p:txBody>
      </p:sp>
      <p:sp>
        <p:nvSpPr>
          <p:cNvPr id="20" name="TextBox 19"/>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E4DF89CC-4DD9-42B6-A193-FF37BFECB06B}"/>
    </p:ext>
  </p:extLs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T5.1 – Joint missions with USAL</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Drone provision and flight capability support the sensor results reported by USAL</a:t>
            </a:r>
          </a:p>
        </p:txBody>
      </p:sp>
      <p:sp>
        <p:nvSpPr>
          <p:cNvPr id="4" name="Rounded Rectangle 3"/>
          <p:cNvSpPr/>
          <p:nvPr/>
        </p:nvSpPr>
        <p:spPr>
          <a:xfrm>
            <a:off x="768096" y="1856231"/>
            <a:ext cx="4315968" cy="2715768"/>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6695" y="2057400"/>
            <a:ext cx="3858768" cy="320040"/>
          </a:xfrm>
          <a:prstGeom prst="rect">
            <a:avLst/>
          </a:prstGeom>
          <a:noFill/>
        </p:spPr>
        <p:txBody>
          <a:bodyPr wrap="square" lIns="0" rIns="0" tIns="0" bIns="0" anchor="t">
            <a:spAutoFit/>
          </a:bodyPr>
          <a:lstStyle/>
          <a:p>
            <a:pPr algn="l">
              <a:lnSpc>
                <a:spcPct val="110000"/>
              </a:lnSpc>
              <a:spcAft>
                <a:spcPts val="400"/>
              </a:spcAft>
            </a:pPr>
            <a:r>
              <a:rPr sz="1600" b="1" spc="0">
                <a:solidFill>
                  <a:srgbClr val="5A8C3E"/>
                </a:solidFill>
                <a:latin typeface="Didact Gothic"/>
              </a:rPr>
              <a:t>ACCELIGENCE</a:t>
            </a:r>
          </a:p>
        </p:txBody>
      </p:sp>
      <p:sp>
        <p:nvSpPr>
          <p:cNvPr id="6" name="TextBox 5"/>
          <p:cNvSpPr txBox="1"/>
          <p:nvPr/>
        </p:nvSpPr>
        <p:spPr>
          <a:xfrm>
            <a:off x="996695" y="2642616"/>
            <a:ext cx="3858768" cy="438912"/>
          </a:xfrm>
          <a:prstGeom prst="rect">
            <a:avLst/>
          </a:prstGeom>
          <a:noFill/>
        </p:spPr>
        <p:txBody>
          <a:bodyPr wrap="square" lIns="0" rIns="0" tIns="0" bIns="0" anchor="t">
            <a:spAutoFit/>
          </a:bodyPr>
          <a:lstStyle/>
          <a:p>
            <a:pPr algn="l">
              <a:lnSpc>
                <a:spcPct val="110000"/>
              </a:lnSpc>
              <a:spcAft>
                <a:spcPts val="400"/>
              </a:spcAft>
            </a:pPr>
            <a:r>
              <a:rPr sz="2600" b="1" spc="0">
                <a:solidFill>
                  <a:srgbClr val="162C40"/>
                </a:solidFill>
                <a:latin typeface="Didact Gothic"/>
              </a:rPr>
              <a:t>UAV platform</a:t>
            </a:r>
          </a:p>
        </p:txBody>
      </p:sp>
      <p:sp>
        <p:nvSpPr>
          <p:cNvPr id="7" name="TextBox 6"/>
          <p:cNvSpPr txBox="1"/>
          <p:nvPr/>
        </p:nvSpPr>
        <p:spPr>
          <a:xfrm>
            <a:off x="996695" y="3300984"/>
            <a:ext cx="3858768" cy="39319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Outdoor configuration and assembly</a:t>
            </a:r>
          </a:p>
        </p:txBody>
      </p:sp>
      <p:sp>
        <p:nvSpPr>
          <p:cNvPr id="8" name="TextBox 7"/>
          <p:cNvSpPr txBox="1"/>
          <p:nvPr/>
        </p:nvSpPr>
        <p:spPr>
          <a:xfrm>
            <a:off x="996695" y="3703320"/>
            <a:ext cx="3858768" cy="39319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Drone provision and flight readiness</a:t>
            </a:r>
          </a:p>
        </p:txBody>
      </p:sp>
      <p:sp>
        <p:nvSpPr>
          <p:cNvPr id="9" name="TextBox 8"/>
          <p:cNvSpPr txBox="1"/>
          <p:nvPr/>
        </p:nvSpPr>
        <p:spPr>
          <a:xfrm>
            <a:off x="996695" y="4105656"/>
            <a:ext cx="3858768" cy="39319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Platform testing and payload support</a:t>
            </a:r>
          </a:p>
        </p:txBody>
      </p:sp>
      <p:sp>
        <p:nvSpPr>
          <p:cNvPr id="10" name="Rounded Rectangle 9"/>
          <p:cNvSpPr/>
          <p:nvPr/>
        </p:nvSpPr>
        <p:spPr>
          <a:xfrm>
            <a:off x="7104888" y="1856231"/>
            <a:ext cx="4315968" cy="2715768"/>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33488" y="2057400"/>
            <a:ext cx="3858768" cy="320040"/>
          </a:xfrm>
          <a:prstGeom prst="rect">
            <a:avLst/>
          </a:prstGeom>
          <a:noFill/>
        </p:spPr>
        <p:txBody>
          <a:bodyPr wrap="square" lIns="0" rIns="0" tIns="0" bIns="0" anchor="t">
            <a:spAutoFit/>
          </a:bodyPr>
          <a:lstStyle/>
          <a:p>
            <a:pPr algn="l">
              <a:lnSpc>
                <a:spcPct val="110000"/>
              </a:lnSpc>
              <a:spcAft>
                <a:spcPts val="400"/>
              </a:spcAft>
            </a:pPr>
            <a:r>
              <a:rPr sz="1600" b="1" spc="0">
                <a:solidFill>
                  <a:srgbClr val="5A8C3E"/>
                </a:solidFill>
                <a:latin typeface="Didact Gothic"/>
              </a:rPr>
              <a:t>USAL</a:t>
            </a:r>
          </a:p>
        </p:txBody>
      </p:sp>
      <p:sp>
        <p:nvSpPr>
          <p:cNvPr id="12" name="TextBox 11"/>
          <p:cNvSpPr txBox="1"/>
          <p:nvPr/>
        </p:nvSpPr>
        <p:spPr>
          <a:xfrm>
            <a:off x="7333488" y="2642616"/>
            <a:ext cx="3858768" cy="438912"/>
          </a:xfrm>
          <a:prstGeom prst="rect">
            <a:avLst/>
          </a:prstGeom>
          <a:noFill/>
        </p:spPr>
        <p:txBody>
          <a:bodyPr wrap="square" lIns="0" rIns="0" tIns="0" bIns="0" anchor="t">
            <a:spAutoFit/>
          </a:bodyPr>
          <a:lstStyle/>
          <a:p>
            <a:pPr algn="l">
              <a:lnSpc>
                <a:spcPct val="110000"/>
              </a:lnSpc>
              <a:spcAft>
                <a:spcPts val="400"/>
              </a:spcAft>
            </a:pPr>
            <a:r>
              <a:rPr sz="2600" b="1" spc="0">
                <a:solidFill>
                  <a:srgbClr val="162C40"/>
                </a:solidFill>
                <a:latin typeface="Didact Gothic"/>
              </a:rPr>
              <a:t>Sensor results</a:t>
            </a:r>
          </a:p>
        </p:txBody>
      </p:sp>
      <p:sp>
        <p:nvSpPr>
          <p:cNvPr id="13" name="TextBox 12"/>
          <p:cNvSpPr txBox="1"/>
          <p:nvPr/>
        </p:nvSpPr>
        <p:spPr>
          <a:xfrm>
            <a:off x="7333488" y="3300984"/>
            <a:ext cx="3858768" cy="39319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Coordination of sensing requirements</a:t>
            </a:r>
          </a:p>
        </p:txBody>
      </p:sp>
      <p:sp>
        <p:nvSpPr>
          <p:cNvPr id="14" name="TextBox 13"/>
          <p:cNvSpPr txBox="1"/>
          <p:nvPr/>
        </p:nvSpPr>
        <p:spPr>
          <a:xfrm>
            <a:off x="7333488" y="3703320"/>
            <a:ext cx="3858768" cy="39319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Sensor data processing and analysis</a:t>
            </a:r>
          </a:p>
        </p:txBody>
      </p:sp>
      <p:sp>
        <p:nvSpPr>
          <p:cNvPr id="15" name="TextBox 14"/>
          <p:cNvSpPr txBox="1"/>
          <p:nvPr/>
        </p:nvSpPr>
        <p:spPr>
          <a:xfrm>
            <a:off x="7333488" y="4105656"/>
            <a:ext cx="3858768" cy="39319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Interpretation and reporting of results</a:t>
            </a:r>
          </a:p>
        </p:txBody>
      </p:sp>
      <p:sp>
        <p:nvSpPr>
          <p:cNvPr id="16" name="Left-Right Arrow 15"/>
          <p:cNvSpPr/>
          <p:nvPr/>
        </p:nvSpPr>
        <p:spPr>
          <a:xfrm>
            <a:off x="5495544" y="2734056"/>
            <a:ext cx="1188720" cy="320040"/>
          </a:xfrm>
          <a:prstGeom prst="leftRightArrow">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088" y="3383280"/>
            <a:ext cx="1636776" cy="640080"/>
          </a:xfrm>
          <a:prstGeom prst="rect">
            <a:avLst/>
          </a:prstGeom>
          <a:noFill/>
        </p:spPr>
        <p:txBody>
          <a:bodyPr wrap="square" lIns="0" rIns="0" tIns="0" bIns="0" anchor="t">
            <a:spAutoFit/>
          </a:bodyPr>
          <a:lstStyle/>
          <a:p>
            <a:pPr algn="ctr">
              <a:lnSpc>
                <a:spcPct val="110000"/>
              </a:lnSpc>
              <a:spcAft>
                <a:spcPts val="400"/>
              </a:spcAft>
            </a:pPr>
            <a:r>
              <a:rPr sz="1600" b="0" spc="0">
                <a:solidFill>
                  <a:srgbClr val="162C40"/>
                </a:solidFill>
                <a:latin typeface="Didact Gothic"/>
              </a:rPr>
              <a:t>Joint flight</a:t>
            </a:r>
          </a:p>
          <a:p>
            <a:pPr algn="ctr">
              <a:lnSpc>
                <a:spcPct val="110000"/>
              </a:lnSpc>
              <a:spcAft>
                <a:spcPts val="400"/>
              </a:spcAft>
            </a:pPr>
            <a:r>
              <a:rPr sz="1600" b="0" spc="0">
                <a:solidFill>
                  <a:srgbClr val="162C40"/>
                </a:solidFill>
                <a:latin typeface="Didact Gothic"/>
              </a:rPr>
              <a:t>campaigns</a:t>
            </a:r>
          </a:p>
        </p:txBody>
      </p:sp>
      <p:sp>
        <p:nvSpPr>
          <p:cNvPr id="18" name="TextBox 17"/>
          <p:cNvSpPr txBox="1"/>
          <p:nvPr/>
        </p:nvSpPr>
        <p:spPr>
          <a:xfrm>
            <a:off x="768096" y="4937760"/>
            <a:ext cx="10652760" cy="411480"/>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Björkdal: outdoor flights with the multispectral camera completed.</a:t>
            </a:r>
          </a:p>
        </p:txBody>
      </p:sp>
      <p:sp>
        <p:nvSpPr>
          <p:cNvPr id="19" name="Rounded Rectangle 18"/>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Detailed pilot scenarios: WP8. Sensor results and interpretation: USAL.</a:t>
            </a:r>
          </a:p>
        </p:txBody>
      </p:sp>
      <p:sp>
        <p:nvSpPr>
          <p:cNvPr id="21" name="TextBox 20"/>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22" name="TextBox 21"/>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5</a:t>
            </a:r>
          </a:p>
        </p:txBody>
      </p:sp>
      <p:sp>
        <p:nvSpPr>
          <p:cNvPr id="23" name="TextBox 22"/>
          <p:cNvSpPr txBox="1"/>
          <p:nvPr/>
        </p:nvSpPr>
        <p:spPr>
          <a:xfrm>
            <a:off x="1682496" y="6437376"/>
            <a:ext cx="2157984" cy="210312"/>
          </a:xfrm>
          <a:prstGeom prst="rect">
            <a:avLst/>
          </a:prstGeom>
          <a:noFill/>
        </p:spPr>
        <p:txBody>
          <a:bodyPr wrap="square" lIns="0" rIns="0" tIns="0" bIns="0" anchor="t">
            <a:spAutoFit/>
          </a:bodyPr>
          <a:lstStyle/>
          <a:p>
            <a:pPr algn="l">
              <a:lnSpc>
                <a:spcPct val="110000"/>
              </a:lnSpc>
              <a:spcAft>
                <a:spcPts val="400"/>
              </a:spcAft>
            </a:pPr>
            <a:r>
              <a:rPr sz="800" b="0" spc="0">
                <a:solidFill>
                  <a:srgbClr val="3F3219"/>
                </a:solidFill>
                <a:latin typeface="Didact Gothic"/>
              </a:rPr>
              <a:t>EU Horizon Europe | GA 101138432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1308EC1D-FC92-4ABB-B238-7842327FC044}"/>
    </p:ext>
  </p:extLs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160" name="TextBox 5"/>
          <p:cNvSpPr/>
          <p:nvPr/>
        </p:nvSpPr>
        <p:spPr>
          <a:xfrm>
            <a:off x="1227600" y="3509640"/>
            <a:ext cx="386928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1"/>
              </a:rPr>
              <a:t>https://www.linkedin.com/company/xtract-project/</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1" name="TextBox 6"/>
          <p:cNvSpPr/>
          <p:nvPr/>
        </p:nvSpPr>
        <p:spPr>
          <a:xfrm>
            <a:off x="1227600" y="3963240"/>
            <a:ext cx="3711960" cy="47952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2"/>
              </a:rPr>
              <a:t>https://www.youtube.com/channel/UC9eNoqHV2BLXc37Q_CTwFuQ</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2" name="TextBox 7"/>
          <p:cNvSpPr/>
          <p:nvPr/>
        </p:nvSpPr>
        <p:spPr>
          <a:xfrm>
            <a:off x="1227600" y="4580640"/>
            <a:ext cx="404172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3"/>
              </a:rPr>
              <a:t>https://twitter.com/xtract_project</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3" name="TextBox 9"/>
          <p:cNvSpPr/>
          <p:nvPr/>
        </p:nvSpPr>
        <p:spPr>
          <a:xfrm>
            <a:off x="1209960" y="2997360"/>
            <a:ext cx="359136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4"/>
              </a:rPr>
              <a:t>https://xtract-project.eu/</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4" name="TextBox 10"/>
          <p:cNvSpPr/>
          <p:nvPr/>
        </p:nvSpPr>
        <p:spPr>
          <a:xfrm>
            <a:off x="1209960" y="2483640"/>
            <a:ext cx="359136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5"/>
              </a:rPr>
              <a:t>info@xtract-project.eu</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grpSp>
        <p:nvGrpSpPr>
          <p:cNvPr id="166" name="Group 2"/>
          <p:cNvGrpSpPr/>
          <p:nvPr/>
        </p:nvGrpSpPr>
        <p:grpSpPr>
          <a:xfrm>
            <a:off x="6711480" y="107280"/>
            <a:ext cx="5243400" cy="891720"/>
            <a:chOff x="6711480" y="107280"/>
            <a:chExt cx="5243400" cy="891720"/>
          </a:xfrm>
        </p:grpSpPr>
        <p:sp>
          <p:nvSpPr>
            <p:cNvPr id="167" name="TextBox 3"/>
            <p:cNvSpPr/>
            <p:nvPr/>
          </p:nvSpPr>
          <p:spPr>
            <a:xfrm>
              <a:off x="7552440" y="170280"/>
              <a:ext cx="4402440" cy="592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100" b="0" u="none" strike="noStrike">
                  <a:solidFill>
                    <a:schemeClr val="lt1"/>
                  </a:solidFill>
                  <a:effectLst/>
                  <a:uFillTx/>
                  <a:latin typeface="Didact Gothic"/>
                </a:rPr>
                <a:t>This project has received funding from the European Union’s Horizon Europe Research and Innovation Programme under Grant Agreement no. 101138432</a:t>
              </a:r>
              <a:endParaRPr lang="es" sz="1100" b="0" u="none" strike="noStrike">
                <a:solidFill>
                  <a:srgbClr val="000000"/>
                </a:solidFill>
                <a:effectLst/>
                <a:uFillTx/>
                <a:latin typeface="Calibri"/>
              </a:endParaRPr>
            </a:p>
          </p:txBody>
        </p:sp>
        <p:pic>
          <p:nvPicPr>
            <p:cNvPr id="168" name="Picture 4" descr="A blue flag with yellow stars&#10;&#10;Description automatically generated"/>
            <p:cNvPicPr/>
            <p:nvPr/>
          </p:nvPicPr>
          <p:blipFill>
            <a:blip r:embed="rId6"/>
            <a:stretch/>
          </p:blipFill>
          <p:spPr>
            <a:xfrm>
              <a:off x="6711480" y="107280"/>
              <a:ext cx="880200" cy="891720"/>
            </a:xfrm>
            <a:prstGeom prst="rect">
              <a:avLst/>
            </a:prstGeom>
            <a:noFill/>
            <a:ln w="0">
              <a:noFill/>
            </a:ln>
          </p:spPr>
        </p:pic>
      </p:grpSp>
      <p:sp>
        <p:nvSpPr>
          <p:cNvPr id="169" name="TextBox 168"/>
          <p:cNvSpPr txBox="1"/>
          <p:nvPr/>
        </p:nvSpPr>
        <p:spPr>
          <a:xfrm>
            <a:off x="630936" y="621792"/>
            <a:ext cx="5815584" cy="384048"/>
          </a:xfrm>
          <a:prstGeom prst="rect">
            <a:avLst/>
          </a:prstGeom>
          <a:noFill/>
        </p:spPr>
        <p:txBody>
          <a:bodyPr wrap="square" lIns="0" rIns="0" tIns="0" bIns="0" anchor="t">
            <a:spAutoFit/>
          </a:bodyPr>
          <a:lstStyle/>
          <a:p>
            <a:pPr algn="ctr">
              <a:lnSpc>
                <a:spcPct val="110000"/>
              </a:lnSpc>
              <a:spcAft>
                <a:spcPts val="400"/>
              </a:spcAft>
            </a:pPr>
            <a:r>
              <a:rPr sz="2300" b="1" spc="0">
                <a:solidFill>
                  <a:srgbClr val="162C40"/>
                </a:solidFill>
                <a:latin typeface="Didact Gothic"/>
              </a:rPr>
              <a:t>Andreas Lefkatis | ACCELIGENCE</a:t>
            </a:r>
          </a:p>
        </p:txBody>
      </p:sp>
      <p:sp>
        <p:nvSpPr>
          <p:cNvPr id="170" name="TextBox 169"/>
          <p:cNvSpPr txBox="1"/>
          <p:nvPr/>
        </p:nvSpPr>
        <p:spPr>
          <a:xfrm>
            <a:off x="630936" y="1161288"/>
            <a:ext cx="5815584" cy="292608"/>
          </a:xfrm>
          <a:prstGeom prst="rect">
            <a:avLst/>
          </a:prstGeom>
          <a:noFill/>
        </p:spPr>
        <p:txBody>
          <a:bodyPr wrap="square" lIns="0" rIns="0" tIns="0" bIns="0" anchor="t">
            <a:spAutoFit/>
          </a:bodyPr>
          <a:lstStyle/>
          <a:p>
            <a:pPr algn="ctr">
              <a:lnSpc>
                <a:spcPct val="110000"/>
              </a:lnSpc>
              <a:spcAft>
                <a:spcPts val="400"/>
              </a:spcAft>
            </a:pPr>
            <a:r>
              <a:rPr sz="1600" b="0" spc="0">
                <a:solidFill>
                  <a:srgbClr val="162C40"/>
                </a:solidFill>
                <a:latin typeface="Didact Gothic"/>
              </a:rPr>
              <a:t>andreas.lefkatis@acceligence.cy</a:t>
            </a:r>
          </a:p>
        </p:txBody>
      </p:sp>
      <p:sp>
        <p:nvSpPr>
          <p:cNvPr id="171" name="TextBox 170"/>
          <p:cNvSpPr txBox="1"/>
          <p:nvPr/>
        </p:nvSpPr>
        <p:spPr>
          <a:xfrm>
            <a:off x="640080" y="1746504"/>
            <a:ext cx="5230368" cy="384048"/>
          </a:xfrm>
          <a:prstGeom prst="rect">
            <a:avLst/>
          </a:prstGeom>
          <a:noFill/>
        </p:spPr>
        <p:txBody>
          <a:bodyPr wrap="square" lIns="0" rIns="0" tIns="0" bIns="0" anchor="t">
            <a:spAutoFit/>
          </a:bodyPr>
          <a:lstStyle/>
          <a:p>
            <a:pPr algn="ctr">
              <a:lnSpc>
                <a:spcPct val="110000"/>
              </a:lnSpc>
              <a:spcAft>
                <a:spcPts val="400"/>
              </a:spcAft>
            </a:pPr>
            <a:r>
              <a:rPr sz="1700" b="1" spc="0">
                <a:solidFill>
                  <a:srgbClr val="5A8C3E"/>
                </a:solidFill>
                <a:latin typeface="Didact Gothic"/>
              </a:rPr>
              <a:t>Outdoor UAV: completed, tested and deployed</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B0377532-81EA-4A2B-82EF-6EAC8820910A}"/>
    </p:ext>
  </p:extLs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XTRACT">
      <a:dk1>
        <a:srgbClr val="162C40"/>
      </a:dk1>
      <a:lt1>
        <a:srgbClr val="FFFFFF"/>
      </a:lt1>
      <a:dk2>
        <a:srgbClr val="3F3219"/>
      </a:dk2>
      <a:lt2>
        <a:srgbClr val="E7E6E6"/>
      </a:lt2>
      <a:accent1>
        <a:srgbClr val="162C40"/>
      </a:accent1>
      <a:accent2>
        <a:srgbClr val="5A8C3E"/>
      </a:accent2>
      <a:accent3>
        <a:srgbClr val="FFFFFF"/>
      </a:accent3>
      <a:accent4>
        <a:srgbClr val="FFFFFF"/>
      </a:accent4>
      <a:accent5>
        <a:srgbClr val="000000"/>
      </a:accent5>
      <a:accent6>
        <a:srgbClr val="000000"/>
      </a:accent6>
      <a:hlink>
        <a:srgbClr val="D95427"/>
      </a:hlink>
      <a:folHlink>
        <a:srgbClr val="9CCE7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66</TotalTime>
  <Application>Collabora_Office/26.04.4.1$Linux_X86_64 LibreOffice_project/825c9caa93da8651971522ba82a80fa0777539c0</Application>
  <AppVersion>15.0000</AppVersion>
  <Words>535</Words>
  <Paragraphs>106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2023-08-08T09:23:42Z</dcterms:created>
  <dc:creator>Andreas Lefkatis | ACCELIGENCE</dc:creator>
  <dc:description>Draft grounded in completed outdoor platform milestones. Sensor results assigned to USAL. Detailed pilot feedback to be consolidated after the team debrief.</dc:description>
  <dc:language>en-US</dc:language>
  <cp:lastModifiedBy>Antonia Papadaki</cp:lastModifiedBy>
  <dcterms:modified xsi:type="dcterms:W3CDTF">2026-09-25T08:45:26Z</dcterms:modified>
  <cp:revision>58</cp:revision>
  <dc:subject>Outdoor UAV evolution, completed drone provision, testing, risks and collaboration with USAL</dc:subject>
  <dc:title>XTRACT 7th GA – WP5 T5.1 Outdoor UAV configuration</dc:title>
  <cp:keywords>XTRACT; WP5; T5.1; Outdoor UAV; ACCELIGENCE; USAL; Björkdal</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5</vt:i4>
  </property>
  <property fmtid="{D5CDD505-2E9C-101B-9397-08002B2CF9AE}" pid="3" name="MMClips">
    <vt:i4>1</vt:i4>
  </property>
  <property fmtid="{D5CDD505-2E9C-101B-9397-08002B2CF9AE}" pid="4" name="PresentationFormat">
    <vt:lpwstr>Ευρεία οθόνη</vt:lpwstr>
  </property>
  <property fmtid="{D5CDD505-2E9C-101B-9397-08002B2CF9AE}" pid="5" name="Slides">
    <vt:i4>15</vt:i4>
  </property>
</Properties>
</file>